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Oval 5"/>
          <p:cNvSpPr/>
          <p:nvPr/>
        </p:nvSpPr>
        <p:spPr>
          <a:xfrm>
            <a:off x="9281160" y="56692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81160" y="566928"/>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E</a:t>
            </a:r>
          </a:p>
        </p:txBody>
      </p:sp>
      <p:sp>
        <p:nvSpPr>
          <p:cNvPr id="8" name="Oval 7"/>
          <p:cNvSpPr/>
          <p:nvPr/>
        </p:nvSpPr>
        <p:spPr>
          <a:xfrm>
            <a:off x="9738360" y="566928"/>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38360" y="566928"/>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D</a:t>
            </a:r>
          </a:p>
        </p:txBody>
      </p:sp>
      <p:sp>
        <p:nvSpPr>
          <p:cNvPr id="10" name="Oval 9"/>
          <p:cNvSpPr/>
          <p:nvPr/>
        </p:nvSpPr>
        <p:spPr>
          <a:xfrm>
            <a:off x="10195560" y="566928"/>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95560" y="566928"/>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I</a:t>
            </a:r>
          </a:p>
        </p:txBody>
      </p:sp>
      <p:sp>
        <p:nvSpPr>
          <p:cNvPr id="12" name="Oval 11"/>
          <p:cNvSpPr/>
          <p:nvPr/>
        </p:nvSpPr>
        <p:spPr>
          <a:xfrm>
            <a:off x="10652760" y="566928"/>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52760" y="566928"/>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P</a:t>
            </a:r>
          </a:p>
        </p:txBody>
      </p:sp>
      <p:sp>
        <p:nvSpPr>
          <p:cNvPr id="14" name="Oval 13"/>
          <p:cNvSpPr/>
          <p:nvPr/>
        </p:nvSpPr>
        <p:spPr>
          <a:xfrm>
            <a:off x="11109960" y="566928"/>
            <a:ext cx="420624" cy="42062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09960" y="566928"/>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T</a:t>
            </a:r>
          </a:p>
        </p:txBody>
      </p:sp>
      <p:sp>
        <p:nvSpPr>
          <p:cNvPr id="16" name="TextBox 15"/>
          <p:cNvSpPr txBox="1"/>
          <p:nvPr/>
        </p:nvSpPr>
        <p:spPr>
          <a:xfrm>
            <a:off x="9281160" y="1078992"/>
            <a:ext cx="2286000" cy="274320"/>
          </a:xfrm>
          <a:prstGeom prst="rect">
            <a:avLst/>
          </a:prstGeom>
          <a:noFill/>
        </p:spPr>
        <p:txBody>
          <a:bodyPr wrap="square" anchor="t">
            <a:spAutoFit/>
          </a:bodyPr>
          <a:lstStyle/>
          <a:p>
            <a:pPr algn="ctr">
              <a:spcAft>
                <a:spcPts val="400"/>
              </a:spcAft>
            </a:pPr>
            <a:r>
              <a:rPr sz="900" b="1">
                <a:solidFill>
                  <a:srgbClr val="5B6372"/>
                </a:solidFill>
                <a:latin typeface="Arial"/>
              </a:rPr>
              <a:t>DESIGN THINKING</a:t>
            </a:r>
          </a:p>
        </p:txBody>
      </p:sp>
      <p:sp>
        <p:nvSpPr>
          <p:cNvPr id="17" name="TextBox 1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8" name="TextBox 17"/>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Design Thinking Course for Businesses</a:t>
            </a:r>
          </a:p>
        </p:txBody>
      </p:sp>
      <p:sp>
        <p:nvSpPr>
          <p:cNvPr id="19" name="Rectangle 1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TGS-2026064719</a:t>
            </a:r>
          </a:p>
          <a:p>
            <a:pPr algn="l">
              <a:spcAft>
                <a:spcPts val="600"/>
              </a:spcAft>
            </a:pPr>
            <a:r>
              <a:rPr sz="1300" b="0">
                <a:solidFill>
                  <a:srgbClr val="5B6372"/>
                </a:solidFill>
                <a:latin typeface="Arial"/>
              </a:rPr>
              <a:t>TSC: Design Thinking Practices  ·  DSN-ACE-3014-1.1</a:t>
            </a:r>
          </a:p>
          <a:p>
            <a:pPr algn="l">
              <a:spcAft>
                <a:spcPts val="600"/>
              </a:spcAft>
            </a:pPr>
            <a:r>
              <a:rPr sz="1300" b="0">
                <a:solidFill>
                  <a:srgbClr val="5B6372"/>
                </a:solidFill>
                <a:latin typeface="Arial"/>
              </a:rPr>
              <a:t>Conducted by Tertiary Infotech Academy Pte Ltd  ·  UEN 201200696W</a:t>
            </a:r>
          </a:p>
        </p:txBody>
      </p:sp>
      <p:sp>
        <p:nvSpPr>
          <p:cNvPr id="21" name="TextBox 2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v15.0  ·  10 August 2026</a:t>
            </a:r>
          </a:p>
        </p:txBody>
      </p:sp>
      <p:sp>
        <p:nvSpPr>
          <p:cNvPr id="22" name="TextBox 2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334975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33497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63496" y="2286000"/>
            <a:ext cx="777240" cy="7772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63496" y="228600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60120" y="3246120"/>
            <a:ext cx="2983992" cy="411480"/>
          </a:xfrm>
          <a:prstGeom prst="rect">
            <a:avLst/>
          </a:prstGeom>
          <a:noFill/>
        </p:spPr>
        <p:txBody>
          <a:bodyPr wrap="square" anchor="t">
            <a:spAutoFit/>
          </a:bodyPr>
          <a:lstStyle/>
          <a:p>
            <a:pPr algn="ctr">
              <a:spcAft>
                <a:spcPts val="400"/>
              </a:spcAft>
            </a:pPr>
            <a:r>
              <a:rPr sz="1600" b="1">
                <a:solidFill>
                  <a:srgbClr val="1F6FEB"/>
                </a:solidFill>
                <a:latin typeface="Arial"/>
              </a:rPr>
              <a:t>Trainer shows the QR</a:t>
            </a:r>
          </a:p>
        </p:txBody>
      </p:sp>
      <p:sp>
        <p:nvSpPr>
          <p:cNvPr id="12" name="TextBox 11"/>
          <p:cNvSpPr txBox="1"/>
          <p:nvPr/>
        </p:nvSpPr>
        <p:spPr>
          <a:xfrm>
            <a:off x="960120" y="3703320"/>
            <a:ext cx="2983992" cy="731520"/>
          </a:xfrm>
          <a:prstGeom prst="rect">
            <a:avLst/>
          </a:prstGeom>
          <a:noFill/>
        </p:spPr>
        <p:txBody>
          <a:bodyPr wrap="square" anchor="t">
            <a:spAutoFit/>
          </a:bodyPr>
          <a:lstStyle/>
          <a:p>
            <a:pPr algn="ctr">
              <a:spcAft>
                <a:spcPts val="400"/>
              </a:spcAft>
            </a:pPr>
            <a:r>
              <a:rPr sz="1250" b="0">
                <a:solidFill>
                  <a:srgbClr val="5B6372"/>
                </a:solidFill>
                <a:latin typeface="Arial"/>
              </a:rPr>
              <a:t>The trainer or administrator displays the digital attendance QR code generated from the SSG portal.</a:t>
            </a:r>
          </a:p>
        </p:txBody>
      </p:sp>
      <p:sp>
        <p:nvSpPr>
          <p:cNvPr id="13" name="TextBox 12"/>
          <p:cNvSpPr txBox="1"/>
          <p:nvPr/>
        </p:nvSpPr>
        <p:spPr>
          <a:xfrm>
            <a:off x="4090416" y="2948940"/>
            <a:ext cx="365760"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4" name="Rectangle 13"/>
          <p:cNvSpPr/>
          <p:nvPr/>
        </p:nvSpPr>
        <p:spPr>
          <a:xfrm>
            <a:off x="4419600" y="1920240"/>
            <a:ext cx="334975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9600" y="1920240"/>
            <a:ext cx="33497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05856" y="2286000"/>
            <a:ext cx="777240" cy="7772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05856" y="228600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8" name="TextBox 17"/>
          <p:cNvSpPr txBox="1"/>
          <p:nvPr/>
        </p:nvSpPr>
        <p:spPr>
          <a:xfrm>
            <a:off x="4602480" y="3246120"/>
            <a:ext cx="2983992" cy="411480"/>
          </a:xfrm>
          <a:prstGeom prst="rect">
            <a:avLst/>
          </a:prstGeom>
          <a:noFill/>
        </p:spPr>
        <p:txBody>
          <a:bodyPr wrap="square" anchor="t">
            <a:spAutoFit/>
          </a:bodyPr>
          <a:lstStyle/>
          <a:p>
            <a:pPr algn="ctr">
              <a:spcAft>
                <a:spcPts val="400"/>
              </a:spcAft>
            </a:pPr>
            <a:r>
              <a:rPr sz="1600" b="1">
                <a:solidFill>
                  <a:srgbClr val="10B981"/>
                </a:solidFill>
                <a:latin typeface="Arial"/>
              </a:rPr>
              <a:t>Scan with your phone</a:t>
            </a:r>
          </a:p>
        </p:txBody>
      </p:sp>
      <p:sp>
        <p:nvSpPr>
          <p:cNvPr id="19" name="TextBox 18"/>
          <p:cNvSpPr txBox="1"/>
          <p:nvPr/>
        </p:nvSpPr>
        <p:spPr>
          <a:xfrm>
            <a:off x="4602480" y="3703320"/>
            <a:ext cx="2983992" cy="731520"/>
          </a:xfrm>
          <a:prstGeom prst="rect">
            <a:avLst/>
          </a:prstGeom>
          <a:noFill/>
        </p:spPr>
        <p:txBody>
          <a:bodyPr wrap="square" anchor="t">
            <a:spAutoFit/>
          </a:bodyPr>
          <a:lstStyle/>
          <a:p>
            <a:pPr algn="ctr">
              <a:spcAft>
                <a:spcPts val="400"/>
              </a:spcAft>
            </a:pPr>
            <a:r>
              <a:rPr sz="1250" b="0">
                <a:solidFill>
                  <a:srgbClr val="5B6372"/>
                </a:solidFill>
                <a:latin typeface="Arial"/>
              </a:rPr>
              <a:t>Open your mobile phone camera and scan the QR code shown on screen.</a:t>
            </a:r>
          </a:p>
        </p:txBody>
      </p:sp>
      <p:sp>
        <p:nvSpPr>
          <p:cNvPr id="20" name="TextBox 19"/>
          <p:cNvSpPr txBox="1"/>
          <p:nvPr/>
        </p:nvSpPr>
        <p:spPr>
          <a:xfrm>
            <a:off x="7732776" y="2948940"/>
            <a:ext cx="365760"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61960" y="1920240"/>
            <a:ext cx="334975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61960" y="1920240"/>
            <a:ext cx="334975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48216" y="2286000"/>
            <a:ext cx="777240" cy="7772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8216" y="228600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5" name="TextBox 24"/>
          <p:cNvSpPr txBox="1"/>
          <p:nvPr/>
        </p:nvSpPr>
        <p:spPr>
          <a:xfrm>
            <a:off x="8244840" y="3246120"/>
            <a:ext cx="2983992" cy="411480"/>
          </a:xfrm>
          <a:prstGeom prst="rect">
            <a:avLst/>
          </a:prstGeom>
          <a:noFill/>
        </p:spPr>
        <p:txBody>
          <a:bodyPr wrap="square" anchor="t">
            <a:spAutoFit/>
          </a:bodyPr>
          <a:lstStyle/>
          <a:p>
            <a:pPr algn="ctr">
              <a:spcAft>
                <a:spcPts val="400"/>
              </a:spcAft>
            </a:pPr>
            <a:r>
              <a:rPr sz="1600" b="1">
                <a:solidFill>
                  <a:srgbClr val="7C3AED"/>
                </a:solidFill>
                <a:latin typeface="Arial"/>
              </a:rPr>
              <a:t>Submit — three times</a:t>
            </a:r>
          </a:p>
        </p:txBody>
      </p:sp>
      <p:sp>
        <p:nvSpPr>
          <p:cNvPr id="26" name="TextBox 25"/>
          <p:cNvSpPr txBox="1"/>
          <p:nvPr/>
        </p:nvSpPr>
        <p:spPr>
          <a:xfrm>
            <a:off x="8244840" y="3703320"/>
            <a:ext cx="2983992" cy="731520"/>
          </a:xfrm>
          <a:prstGeom prst="rect">
            <a:avLst/>
          </a:prstGeom>
          <a:noFill/>
        </p:spPr>
        <p:txBody>
          <a:bodyPr wrap="square" anchor="t">
            <a:spAutoFit/>
          </a:bodyPr>
          <a:lstStyle/>
          <a:p>
            <a:pPr algn="ctr">
              <a:spcAft>
                <a:spcPts val="400"/>
              </a:spcAft>
            </a:pPr>
            <a:r>
              <a:rPr sz="1250" b="0">
                <a:solidFill>
                  <a:srgbClr val="5B6372"/>
                </a:solidFill>
                <a:latin typeface="Arial"/>
              </a:rPr>
              <a:t>Attendance is taken at AM, PM and again before the Assessment.</a:t>
            </a:r>
          </a:p>
        </p:txBody>
      </p:sp>
      <p:sp>
        <p:nvSpPr>
          <p:cNvPr id="27" name="Rectangle 26"/>
          <p:cNvSpPr/>
          <p:nvPr/>
        </p:nvSpPr>
        <p:spPr>
          <a:xfrm>
            <a:off x="777240" y="4892040"/>
            <a:ext cx="10634472" cy="10515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92040"/>
            <a:ext cx="91440"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4892040"/>
            <a:ext cx="9994392" cy="1051560"/>
          </a:xfrm>
          <a:prstGeom prst="rect">
            <a:avLst/>
          </a:prstGeom>
          <a:noFill/>
        </p:spPr>
        <p:txBody>
          <a:bodyPr wrap="square" anchor="ctr">
            <a:spAutoFit/>
          </a:bodyPr>
          <a:lstStyle/>
          <a:p>
            <a:pPr algn="l">
              <a:spcAft>
                <a:spcPts val="300"/>
              </a:spcAft>
            </a:pPr>
            <a:r>
              <a:rPr sz="1600" b="1">
                <a:solidFill>
                  <a:srgbClr val="127A3E"/>
                </a:solidFill>
                <a:latin typeface="Arial"/>
              </a:rPr>
              <a:t>⚠  75% minimum attendance</a:t>
            </a:r>
          </a:p>
          <a:p>
            <a:pPr algn="l">
              <a:spcAft>
                <a:spcPts val="300"/>
              </a:spcAft>
            </a:pPr>
            <a:r>
              <a:rPr sz="1250" b="0">
                <a:solidFill>
                  <a:srgbClr val="161B26"/>
                </a:solidFill>
                <a:latin typeface="Arial"/>
              </a:rPr>
              <a:t>Mandatory for all WSQ-funded courses. You must meet the 75% attendance rate based on the SSG Digital Attendance record to be eligible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300" b="0">
                <a:solidFill>
                  <a:srgbClr val="161B26"/>
                </a:solidFill>
                <a:latin typeface="Arial"/>
              </a:rPr>
              <a:t>PhD; ACTA/ACLP-certified adult educator with design thinking and innovation facilitation experience.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300" b="0">
                <a:solidFill>
                  <a:srgbClr val="161B26"/>
                </a:solidFill>
                <a:latin typeface="Arial"/>
              </a:rPr>
              <a:t>WSQ courses on design thinking, innovation, digital transformation and emerging technology.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A product or service experience you love — and one that frustrates you.</a:t>
            </a:r>
          </a:p>
          <a:p>
            <a:pPr>
              <a:spcAft>
                <a:spcPts val="1000"/>
              </a:spcAft>
            </a:pPr>
            <a:r>
              <a:rPr sz="2000" b="0">
                <a:solidFill>
                  <a:srgbClr val="161B26"/>
                </a:solidFill>
                <a:latin typeface="Arial"/>
              </a:rPr>
              <a:t>•  What you want to be able to design or improve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 / TMS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6583680" cy="4023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583680" cy="475488"/>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1984248"/>
            <a:ext cx="164592" cy="164592"/>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52728" y="1984248"/>
            <a:ext cx="164592" cy="1645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27048" y="1984248"/>
            <a:ext cx="164592" cy="1645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20240" y="1938528"/>
            <a:ext cx="5166360" cy="274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75688" y="1938528"/>
            <a:ext cx="5029200" cy="274320"/>
          </a:xfrm>
          <a:prstGeom prst="rect">
            <a:avLst/>
          </a:prstGeom>
          <a:noFill/>
        </p:spPr>
        <p:txBody>
          <a:bodyPr wrap="square" anchor="ctr">
            <a:spAutoFit/>
          </a:bodyPr>
          <a:lstStyle/>
          <a:p>
            <a:pPr algn="l">
              <a:spcAft>
                <a:spcPts val="400"/>
              </a:spcAft>
            </a:pPr>
            <a:r>
              <a:rPr sz="1100" b="0">
                <a:solidFill>
                  <a:srgbClr val="5B6372"/>
                </a:solidFill>
                <a:latin typeface="Arial"/>
              </a:rPr>
              <a:t>🔒  lms-tms.tertiaryinfotech.com</a:t>
            </a:r>
          </a:p>
        </p:txBody>
      </p:sp>
      <p:sp>
        <p:nvSpPr>
          <p:cNvPr id="14" name="TextBox 13"/>
          <p:cNvSpPr txBox="1"/>
          <p:nvPr/>
        </p:nvSpPr>
        <p:spPr>
          <a:xfrm>
            <a:off x="1097280" y="2395728"/>
            <a:ext cx="5486400" cy="320040"/>
          </a:xfrm>
          <a:prstGeom prst="rect">
            <a:avLst/>
          </a:prstGeom>
          <a:noFill/>
        </p:spPr>
        <p:txBody>
          <a:bodyPr wrap="square" anchor="t">
            <a:spAutoFit/>
          </a:bodyPr>
          <a:lstStyle/>
          <a:p>
            <a:pPr algn="l">
              <a:spcAft>
                <a:spcPts val="400"/>
              </a:spcAft>
            </a:pPr>
            <a:r>
              <a:rPr sz="1100" b="1">
                <a:solidFill>
                  <a:srgbClr val="161B26"/>
                </a:solidFill>
                <a:latin typeface="Arial"/>
              </a:rPr>
              <a:t>My Courses  ›  Design Thinking for Businesses</a:t>
            </a:r>
          </a:p>
        </p:txBody>
      </p:sp>
      <p:sp>
        <p:nvSpPr>
          <p:cNvPr id="15" name="Rectangle 14"/>
          <p:cNvSpPr/>
          <p:nvPr/>
        </p:nvSpPr>
        <p:spPr>
          <a:xfrm>
            <a:off x="1097280" y="2697480"/>
            <a:ext cx="594360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2697480"/>
            <a:ext cx="7315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697480"/>
            <a:ext cx="3291840" cy="475488"/>
          </a:xfrm>
          <a:prstGeom prst="rect">
            <a:avLst/>
          </a:prstGeom>
          <a:noFill/>
        </p:spPr>
        <p:txBody>
          <a:bodyPr wrap="square" anchor="ctr">
            <a:spAutoFit/>
          </a:bodyPr>
          <a:lstStyle/>
          <a:p>
            <a:pPr algn="l">
              <a:spcAft>
                <a:spcPts val="400"/>
              </a:spcAft>
            </a:pPr>
            <a:r>
              <a:rPr sz="1300" b="1">
                <a:solidFill>
                  <a:srgbClr val="161B26"/>
                </a:solidFill>
                <a:latin typeface="Arial"/>
              </a:rPr>
              <a:t>Trainer Slides</a:t>
            </a:r>
          </a:p>
        </p:txBody>
      </p:sp>
      <p:sp>
        <p:nvSpPr>
          <p:cNvPr id="18" name="Rectangle 17"/>
          <p:cNvSpPr/>
          <p:nvPr/>
        </p:nvSpPr>
        <p:spPr>
          <a:xfrm>
            <a:off x="5788152" y="2798064"/>
            <a:ext cx="118872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88152" y="2798064"/>
            <a:ext cx="1188720" cy="274320"/>
          </a:xfrm>
          <a:prstGeom prst="rect">
            <a:avLst/>
          </a:prstGeom>
          <a:noFill/>
        </p:spPr>
        <p:txBody>
          <a:bodyPr wrap="square" anchor="ctr">
            <a:spAutoFit/>
          </a:bodyPr>
          <a:lstStyle/>
          <a:p>
            <a:pPr algn="ctr">
              <a:spcAft>
                <a:spcPts val="400"/>
              </a:spcAft>
            </a:pPr>
            <a:r>
              <a:rPr sz="1000" b="1">
                <a:solidFill>
                  <a:srgbClr val="FFFFFF"/>
                </a:solidFill>
                <a:latin typeface="Arial"/>
              </a:rPr>
              <a:t>⤓  PPT</a:t>
            </a:r>
          </a:p>
        </p:txBody>
      </p:sp>
      <p:sp>
        <p:nvSpPr>
          <p:cNvPr id="20" name="Rectangle 19"/>
          <p:cNvSpPr/>
          <p:nvPr/>
        </p:nvSpPr>
        <p:spPr>
          <a:xfrm>
            <a:off x="1097280" y="3273552"/>
            <a:ext cx="594360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97280" y="3273552"/>
            <a:ext cx="7315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3273552"/>
            <a:ext cx="3291840" cy="475488"/>
          </a:xfrm>
          <a:prstGeom prst="rect">
            <a:avLst/>
          </a:prstGeom>
          <a:noFill/>
        </p:spPr>
        <p:txBody>
          <a:bodyPr wrap="square" anchor="ctr">
            <a:spAutoFit/>
          </a:bodyPr>
          <a:lstStyle/>
          <a:p>
            <a:pPr algn="l">
              <a:spcAft>
                <a:spcPts val="400"/>
              </a:spcAft>
            </a:pPr>
            <a:r>
              <a:rPr sz="1300" b="1">
                <a:solidFill>
                  <a:srgbClr val="161B26"/>
                </a:solidFill>
                <a:latin typeface="Arial"/>
              </a:rPr>
              <a:t>Learner Slides</a:t>
            </a:r>
          </a:p>
        </p:txBody>
      </p:sp>
      <p:sp>
        <p:nvSpPr>
          <p:cNvPr id="23" name="Rectangle 22"/>
          <p:cNvSpPr/>
          <p:nvPr/>
        </p:nvSpPr>
        <p:spPr>
          <a:xfrm>
            <a:off x="5788152" y="3374136"/>
            <a:ext cx="118872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88152" y="3374136"/>
            <a:ext cx="1188720" cy="274320"/>
          </a:xfrm>
          <a:prstGeom prst="rect">
            <a:avLst/>
          </a:prstGeom>
          <a:noFill/>
        </p:spPr>
        <p:txBody>
          <a:bodyPr wrap="square" anchor="ctr">
            <a:spAutoFit/>
          </a:bodyPr>
          <a:lstStyle/>
          <a:p>
            <a:pPr algn="ctr">
              <a:spcAft>
                <a:spcPts val="400"/>
              </a:spcAft>
            </a:pPr>
            <a:r>
              <a:rPr sz="1000" b="1">
                <a:solidFill>
                  <a:srgbClr val="FFFFFF"/>
                </a:solidFill>
                <a:latin typeface="Arial"/>
              </a:rPr>
              <a:t>⤓  PDF</a:t>
            </a:r>
          </a:p>
        </p:txBody>
      </p:sp>
      <p:sp>
        <p:nvSpPr>
          <p:cNvPr id="25" name="Rectangle 24"/>
          <p:cNvSpPr/>
          <p:nvPr/>
        </p:nvSpPr>
        <p:spPr>
          <a:xfrm>
            <a:off x="1097280" y="3849624"/>
            <a:ext cx="594360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97280" y="3849624"/>
            <a:ext cx="7315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25880" y="3849624"/>
            <a:ext cx="3291840" cy="475488"/>
          </a:xfrm>
          <a:prstGeom prst="rect">
            <a:avLst/>
          </a:prstGeom>
          <a:noFill/>
        </p:spPr>
        <p:txBody>
          <a:bodyPr wrap="square" anchor="ctr">
            <a:spAutoFit/>
          </a:bodyPr>
          <a:lstStyle/>
          <a:p>
            <a:pPr algn="l">
              <a:spcAft>
                <a:spcPts val="400"/>
              </a:spcAft>
            </a:pPr>
            <a:r>
              <a:rPr sz="1300" b="1">
                <a:solidFill>
                  <a:srgbClr val="161B26"/>
                </a:solidFill>
                <a:latin typeface="Arial"/>
              </a:rPr>
              <a:t>Learner Guide</a:t>
            </a:r>
          </a:p>
        </p:txBody>
      </p:sp>
      <p:sp>
        <p:nvSpPr>
          <p:cNvPr id="28" name="Rectangle 27"/>
          <p:cNvSpPr/>
          <p:nvPr/>
        </p:nvSpPr>
        <p:spPr>
          <a:xfrm>
            <a:off x="5788152" y="3950208"/>
            <a:ext cx="118872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88152" y="3950208"/>
            <a:ext cx="1188720" cy="274320"/>
          </a:xfrm>
          <a:prstGeom prst="rect">
            <a:avLst/>
          </a:prstGeom>
          <a:noFill/>
        </p:spPr>
        <p:txBody>
          <a:bodyPr wrap="square" anchor="ctr">
            <a:spAutoFit/>
          </a:bodyPr>
          <a:lstStyle/>
          <a:p>
            <a:pPr algn="ctr">
              <a:spcAft>
                <a:spcPts val="400"/>
              </a:spcAft>
            </a:pPr>
            <a:r>
              <a:rPr sz="1000" b="1">
                <a:solidFill>
                  <a:srgbClr val="FFFFFF"/>
                </a:solidFill>
                <a:latin typeface="Arial"/>
              </a:rPr>
              <a:t>⤓  PDF</a:t>
            </a:r>
          </a:p>
        </p:txBody>
      </p:sp>
      <p:sp>
        <p:nvSpPr>
          <p:cNvPr id="30" name="Rectangle 29"/>
          <p:cNvSpPr/>
          <p:nvPr/>
        </p:nvSpPr>
        <p:spPr>
          <a:xfrm>
            <a:off x="1097280" y="4425696"/>
            <a:ext cx="594360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97280" y="4425696"/>
            <a:ext cx="7315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25880" y="4425696"/>
            <a:ext cx="3291840" cy="475488"/>
          </a:xfrm>
          <a:prstGeom prst="rect">
            <a:avLst/>
          </a:prstGeom>
          <a:noFill/>
        </p:spPr>
        <p:txBody>
          <a:bodyPr wrap="square" anchor="ctr">
            <a:spAutoFit/>
          </a:bodyPr>
          <a:lstStyle/>
          <a:p>
            <a:pPr algn="l">
              <a:spcAft>
                <a:spcPts val="400"/>
              </a:spcAft>
            </a:pPr>
            <a:r>
              <a:rPr sz="1300" b="1">
                <a:solidFill>
                  <a:srgbClr val="161B26"/>
                </a:solidFill>
                <a:latin typeface="Arial"/>
              </a:rPr>
              <a:t>Lesson Plan</a:t>
            </a:r>
          </a:p>
        </p:txBody>
      </p:sp>
      <p:sp>
        <p:nvSpPr>
          <p:cNvPr id="33" name="Rectangle 32"/>
          <p:cNvSpPr/>
          <p:nvPr/>
        </p:nvSpPr>
        <p:spPr>
          <a:xfrm>
            <a:off x="5788152" y="4526280"/>
            <a:ext cx="118872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88152" y="4526280"/>
            <a:ext cx="1188720" cy="274320"/>
          </a:xfrm>
          <a:prstGeom prst="rect">
            <a:avLst/>
          </a:prstGeom>
          <a:noFill/>
        </p:spPr>
        <p:txBody>
          <a:bodyPr wrap="square" anchor="ctr">
            <a:spAutoFit/>
          </a:bodyPr>
          <a:lstStyle/>
          <a:p>
            <a:pPr algn="ctr">
              <a:spcAft>
                <a:spcPts val="400"/>
              </a:spcAft>
            </a:pPr>
            <a:r>
              <a:rPr sz="1000" b="1">
                <a:solidFill>
                  <a:srgbClr val="FFFFFF"/>
                </a:solidFill>
                <a:latin typeface="Arial"/>
              </a:rPr>
              <a:t>⤓  PDF</a:t>
            </a:r>
          </a:p>
        </p:txBody>
      </p:sp>
      <p:sp>
        <p:nvSpPr>
          <p:cNvPr id="35" name="Rectangle 34"/>
          <p:cNvSpPr/>
          <p:nvPr/>
        </p:nvSpPr>
        <p:spPr>
          <a:xfrm>
            <a:off x="1097280" y="5001768"/>
            <a:ext cx="5943600"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97280" y="5001768"/>
            <a:ext cx="73152" cy="47548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25880" y="5001768"/>
            <a:ext cx="3291840" cy="475488"/>
          </a:xfrm>
          <a:prstGeom prst="rect">
            <a:avLst/>
          </a:prstGeom>
          <a:noFill/>
        </p:spPr>
        <p:txBody>
          <a:bodyPr wrap="square" anchor="ctr">
            <a:spAutoFit/>
          </a:bodyPr>
          <a:lstStyle/>
          <a:p>
            <a:pPr algn="l">
              <a:spcAft>
                <a:spcPts val="400"/>
              </a:spcAft>
            </a:pPr>
            <a:r>
              <a:rPr sz="1300" b="1">
                <a:solidFill>
                  <a:srgbClr val="161B26"/>
                </a:solidFill>
                <a:latin typeface="Arial"/>
              </a:rPr>
              <a:t>Activities / Labs</a:t>
            </a:r>
          </a:p>
        </p:txBody>
      </p:sp>
      <p:sp>
        <p:nvSpPr>
          <p:cNvPr id="38" name="Rectangle 37"/>
          <p:cNvSpPr/>
          <p:nvPr/>
        </p:nvSpPr>
        <p:spPr>
          <a:xfrm>
            <a:off x="5788152" y="5102352"/>
            <a:ext cx="1188720" cy="274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88152" y="5102352"/>
            <a:ext cx="1188720" cy="274320"/>
          </a:xfrm>
          <a:prstGeom prst="rect">
            <a:avLst/>
          </a:prstGeom>
          <a:noFill/>
        </p:spPr>
        <p:txBody>
          <a:bodyPr wrap="square" anchor="ctr">
            <a:spAutoFit/>
          </a:bodyPr>
          <a:lstStyle/>
          <a:p>
            <a:pPr algn="ctr">
              <a:spcAft>
                <a:spcPts val="400"/>
              </a:spcAft>
            </a:pPr>
            <a:r>
              <a:rPr sz="1000" b="1">
                <a:solidFill>
                  <a:srgbClr val="FFFFFF"/>
                </a:solidFill>
                <a:latin typeface="Arial"/>
              </a:rPr>
              <a:t>⤓  FOLDER</a:t>
            </a:r>
          </a:p>
        </p:txBody>
      </p:sp>
      <p:sp>
        <p:nvSpPr>
          <p:cNvPr id="40" name="Rectangle 39"/>
          <p:cNvSpPr/>
          <p:nvPr/>
        </p:nvSpPr>
        <p:spPr>
          <a:xfrm>
            <a:off x="7726679" y="1828800"/>
            <a:ext cx="3703320"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26679" y="1828800"/>
            <a:ext cx="82296" cy="896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982711" y="206654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82711" y="2066544"/>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44" name="TextBox 43"/>
          <p:cNvSpPr txBox="1"/>
          <p:nvPr/>
        </p:nvSpPr>
        <p:spPr>
          <a:xfrm>
            <a:off x="8567927" y="1828800"/>
            <a:ext cx="2697480" cy="896112"/>
          </a:xfrm>
          <a:prstGeom prst="rect">
            <a:avLst/>
          </a:prstGeom>
          <a:noFill/>
        </p:spPr>
        <p:txBody>
          <a:bodyPr wrap="square" anchor="ctr">
            <a:spAutoFit/>
          </a:bodyPr>
          <a:lstStyle/>
          <a:p>
            <a:pPr algn="l">
              <a:spcAft>
                <a:spcPts val="200"/>
              </a:spcAft>
            </a:pPr>
            <a:r>
              <a:rPr sz="1300" b="1">
                <a:solidFill>
                  <a:srgbClr val="161B26"/>
                </a:solidFill>
                <a:latin typeface="Arial"/>
              </a:rPr>
              <a:t>Sign in</a:t>
            </a:r>
          </a:p>
          <a:p>
            <a:pPr algn="l">
              <a:spcAft>
                <a:spcPts val="200"/>
              </a:spcAft>
            </a:pPr>
            <a:r>
              <a:rPr sz="1050" b="0">
                <a:solidFill>
                  <a:srgbClr val="5B6372"/>
                </a:solidFill>
                <a:latin typeface="Arial"/>
              </a:rPr>
              <a:t>Use the e-mail you registered with</a:t>
            </a:r>
          </a:p>
        </p:txBody>
      </p:sp>
      <p:sp>
        <p:nvSpPr>
          <p:cNvPr id="45" name="Rectangle 44"/>
          <p:cNvSpPr/>
          <p:nvPr/>
        </p:nvSpPr>
        <p:spPr>
          <a:xfrm>
            <a:off x="7726679" y="2862071"/>
            <a:ext cx="3703320"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26679" y="2862071"/>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982711" y="3099815"/>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82711" y="3099815"/>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49" name="TextBox 48"/>
          <p:cNvSpPr txBox="1"/>
          <p:nvPr/>
        </p:nvSpPr>
        <p:spPr>
          <a:xfrm>
            <a:off x="8567927" y="2862071"/>
            <a:ext cx="2697480" cy="896112"/>
          </a:xfrm>
          <a:prstGeom prst="rect">
            <a:avLst/>
          </a:prstGeom>
          <a:noFill/>
        </p:spPr>
        <p:txBody>
          <a:bodyPr wrap="square" anchor="ctr">
            <a:spAutoFit/>
          </a:bodyPr>
          <a:lstStyle/>
          <a:p>
            <a:pPr algn="l">
              <a:spcAft>
                <a:spcPts val="200"/>
              </a:spcAft>
            </a:pPr>
            <a:r>
              <a:rPr sz="1300" b="1">
                <a:solidFill>
                  <a:srgbClr val="161B26"/>
                </a:solidFill>
                <a:latin typeface="Arial"/>
              </a:rPr>
              <a:t>Open My Courses</a:t>
            </a:r>
          </a:p>
          <a:p>
            <a:pPr algn="l">
              <a:spcAft>
                <a:spcPts val="200"/>
              </a:spcAft>
            </a:pPr>
            <a:r>
              <a:rPr sz="1050" b="0">
                <a:solidFill>
                  <a:srgbClr val="5B6372"/>
                </a:solidFill>
                <a:latin typeface="Arial"/>
              </a:rPr>
              <a:t>Select this course from your list</a:t>
            </a:r>
          </a:p>
        </p:txBody>
      </p:sp>
      <p:sp>
        <p:nvSpPr>
          <p:cNvPr id="50" name="Rectangle 49"/>
          <p:cNvSpPr/>
          <p:nvPr/>
        </p:nvSpPr>
        <p:spPr>
          <a:xfrm>
            <a:off x="7726679" y="3895342"/>
            <a:ext cx="3703320"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726679" y="3895342"/>
            <a:ext cx="82296" cy="896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982711" y="413308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982711" y="4133086"/>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54" name="TextBox 53"/>
          <p:cNvSpPr txBox="1"/>
          <p:nvPr/>
        </p:nvSpPr>
        <p:spPr>
          <a:xfrm>
            <a:off x="8567927" y="3895342"/>
            <a:ext cx="2697480" cy="896112"/>
          </a:xfrm>
          <a:prstGeom prst="rect">
            <a:avLst/>
          </a:prstGeom>
          <a:noFill/>
        </p:spPr>
        <p:txBody>
          <a:bodyPr wrap="square" anchor="ctr">
            <a:spAutoFit/>
          </a:bodyPr>
          <a:lstStyle/>
          <a:p>
            <a:pPr algn="l">
              <a:spcAft>
                <a:spcPts val="200"/>
              </a:spcAft>
            </a:pPr>
            <a:r>
              <a:rPr sz="1300" b="1">
                <a:solidFill>
                  <a:srgbClr val="161B26"/>
                </a:solidFill>
                <a:latin typeface="Arial"/>
              </a:rPr>
              <a:t>Click ⤓ Download</a:t>
            </a:r>
          </a:p>
          <a:p>
            <a:pPr algn="l">
              <a:spcAft>
                <a:spcPts val="200"/>
              </a:spcAft>
            </a:pPr>
            <a:r>
              <a:rPr sz="1050" b="0">
                <a:solidFill>
                  <a:srgbClr val="5B6372"/>
                </a:solidFill>
                <a:latin typeface="Arial"/>
              </a:rPr>
              <a:t>Slides, Learner Guide and Lesson Plan</a:t>
            </a:r>
          </a:p>
        </p:txBody>
      </p:sp>
      <p:sp>
        <p:nvSpPr>
          <p:cNvPr id="55" name="Rectangle 54"/>
          <p:cNvSpPr/>
          <p:nvPr/>
        </p:nvSpPr>
        <p:spPr>
          <a:xfrm>
            <a:off x="7726679" y="4928613"/>
            <a:ext cx="3703320"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26679" y="4928613"/>
            <a:ext cx="82296" cy="896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982711" y="5166357"/>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982711" y="5166357"/>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59" name="TextBox 58"/>
          <p:cNvSpPr txBox="1"/>
          <p:nvPr/>
        </p:nvSpPr>
        <p:spPr>
          <a:xfrm>
            <a:off x="8567927" y="4928613"/>
            <a:ext cx="2697480" cy="896112"/>
          </a:xfrm>
          <a:prstGeom prst="rect">
            <a:avLst/>
          </a:prstGeom>
          <a:noFill/>
        </p:spPr>
        <p:txBody>
          <a:bodyPr wrap="square" anchor="ctr">
            <a:spAutoFit/>
          </a:bodyPr>
          <a:lstStyle/>
          <a:p>
            <a:pPr algn="l">
              <a:spcAft>
                <a:spcPts val="200"/>
              </a:spcAft>
            </a:pPr>
            <a:r>
              <a:rPr sz="1300" b="1">
                <a:solidFill>
                  <a:srgbClr val="161B26"/>
                </a:solidFill>
                <a:latin typeface="Arial"/>
              </a:rPr>
              <a:t>Keep them open</a:t>
            </a:r>
          </a:p>
          <a:p>
            <a:pPr algn="l">
              <a:spcAft>
                <a:spcPts val="200"/>
              </a:spcAft>
            </a:pPr>
            <a:r>
              <a:rPr sz="1050" b="0">
                <a:solidFill>
                  <a:srgbClr val="5B6372"/>
                </a:solidFill>
                <a:latin typeface="Arial"/>
              </a:rPr>
              <a:t>Your assessment is open book</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BROWSER-BASED  ·  NO INSTALL REQUIRED</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Your Lab Ed-Tools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91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91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959559"/>
            <a:ext cx="438912" cy="43891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959559"/>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73352" y="1783080"/>
            <a:ext cx="3200400" cy="791870"/>
          </a:xfrm>
          <a:prstGeom prst="rect">
            <a:avLst/>
          </a:prstGeom>
          <a:noFill/>
        </p:spPr>
        <p:txBody>
          <a:bodyPr wrap="square" anchor="ctr">
            <a:spAutoFit/>
          </a:bodyPr>
          <a:lstStyle/>
          <a:p>
            <a:pPr algn="l">
              <a:spcAft>
                <a:spcPts val="200"/>
              </a:spcAft>
            </a:pPr>
            <a:r>
              <a:rPr sz="1400" b="1">
                <a:solidFill>
                  <a:srgbClr val="161B26"/>
                </a:solidFill>
                <a:latin typeface="Arial"/>
              </a:rPr>
              <a:t>Design Thinking Toolkit</a:t>
            </a:r>
          </a:p>
          <a:p>
            <a:pPr algn="l">
              <a:spcAft>
                <a:spcPts val="200"/>
              </a:spcAft>
            </a:pPr>
            <a:r>
              <a:rPr sz="950" b="0">
                <a:solidFill>
                  <a:srgbClr val="1F6FEB"/>
                </a:solidFill>
                <a:latin typeface="Arial"/>
              </a:rPr>
              <a:t>alfredang.github.io/designthinking/</a:t>
            </a:r>
          </a:p>
        </p:txBody>
      </p:sp>
      <p:sp>
        <p:nvSpPr>
          <p:cNvPr id="12" name="TextBox 11"/>
          <p:cNvSpPr txBox="1"/>
          <p:nvPr/>
        </p:nvSpPr>
        <p:spPr>
          <a:xfrm>
            <a:off x="4983480" y="1783080"/>
            <a:ext cx="6199632" cy="791870"/>
          </a:xfrm>
          <a:prstGeom prst="rect">
            <a:avLst/>
          </a:prstGeom>
          <a:noFill/>
        </p:spPr>
        <p:txBody>
          <a:bodyPr wrap="square" anchor="ctr">
            <a:spAutoFit/>
          </a:bodyPr>
          <a:lstStyle/>
          <a:p>
            <a:pPr algn="l">
              <a:spcAft>
                <a:spcPts val="400"/>
              </a:spcAft>
            </a:pPr>
            <a:r>
              <a:rPr sz="1200" b="0">
                <a:solidFill>
                  <a:srgbClr val="5B6372"/>
                </a:solidFill>
                <a:latin typeface="Arial"/>
              </a:rPr>
              <a:t>Empathy Map, Persona, Journey Map, POV, HMW, Brainstorm, Prototype and Test canvases — the primary tool for this course.</a:t>
            </a:r>
          </a:p>
        </p:txBody>
      </p:sp>
      <p:sp>
        <p:nvSpPr>
          <p:cNvPr id="13" name="Rectangle 12"/>
          <p:cNvSpPr/>
          <p:nvPr/>
        </p:nvSpPr>
        <p:spPr>
          <a:xfrm>
            <a:off x="777240" y="2693822"/>
            <a:ext cx="10634472" cy="791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693822"/>
            <a:ext cx="91440" cy="7918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1560" y="2870301"/>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870301"/>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673352" y="2693822"/>
            <a:ext cx="3200400" cy="791870"/>
          </a:xfrm>
          <a:prstGeom prst="rect">
            <a:avLst/>
          </a:prstGeom>
          <a:noFill/>
        </p:spPr>
        <p:txBody>
          <a:bodyPr wrap="square" anchor="ctr">
            <a:spAutoFit/>
          </a:bodyPr>
          <a:lstStyle/>
          <a:p>
            <a:pPr algn="l">
              <a:spcAft>
                <a:spcPts val="200"/>
              </a:spcAft>
            </a:pPr>
            <a:r>
              <a:rPr sz="1400" b="1">
                <a:solidFill>
                  <a:srgbClr val="161B26"/>
                </a:solidFill>
                <a:latin typeface="Arial"/>
              </a:rPr>
              <a:t>RACI Matrix</a:t>
            </a:r>
          </a:p>
          <a:p>
            <a:pPr algn="l">
              <a:spcAft>
                <a:spcPts val="200"/>
              </a:spcAft>
            </a:pPr>
            <a:r>
              <a:rPr sz="950" b="0">
                <a:solidFill>
                  <a:srgbClr val="10B981"/>
                </a:solidFill>
                <a:latin typeface="Arial"/>
              </a:rPr>
              <a:t>alfredang.github.io/raci/</a:t>
            </a:r>
          </a:p>
        </p:txBody>
      </p:sp>
      <p:sp>
        <p:nvSpPr>
          <p:cNvPr id="18" name="TextBox 17"/>
          <p:cNvSpPr txBox="1"/>
          <p:nvPr/>
        </p:nvSpPr>
        <p:spPr>
          <a:xfrm>
            <a:off x="4983480" y="2693822"/>
            <a:ext cx="6199632" cy="791870"/>
          </a:xfrm>
          <a:prstGeom prst="rect">
            <a:avLst/>
          </a:prstGeom>
          <a:noFill/>
        </p:spPr>
        <p:txBody>
          <a:bodyPr wrap="square" anchor="ctr">
            <a:spAutoFit/>
          </a:bodyPr>
          <a:lstStyle/>
          <a:p>
            <a:pPr algn="l">
              <a:spcAft>
                <a:spcPts val="400"/>
              </a:spcAft>
            </a:pPr>
            <a:r>
              <a:rPr sz="1200" b="0">
                <a:solidFill>
                  <a:srgbClr val="5B6372"/>
                </a:solidFill>
                <a:latin typeface="Arial"/>
              </a:rPr>
              <a:t>Assign Responsible / Accountable / Consulted / Informed roles so a design idea has a clear owner when it moves to delivery.</a:t>
            </a:r>
          </a:p>
        </p:txBody>
      </p:sp>
      <p:sp>
        <p:nvSpPr>
          <p:cNvPr id="19" name="Rectangle 18"/>
          <p:cNvSpPr/>
          <p:nvPr/>
        </p:nvSpPr>
        <p:spPr>
          <a:xfrm>
            <a:off x="777240" y="3604564"/>
            <a:ext cx="10634472" cy="791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04564"/>
            <a:ext cx="91440" cy="791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51560" y="3781043"/>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781043"/>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73352" y="3604564"/>
            <a:ext cx="3200400" cy="791870"/>
          </a:xfrm>
          <a:prstGeom prst="rect">
            <a:avLst/>
          </a:prstGeom>
          <a:noFill/>
        </p:spPr>
        <p:txBody>
          <a:bodyPr wrap="square" anchor="ctr">
            <a:spAutoFit/>
          </a:bodyPr>
          <a:lstStyle/>
          <a:p>
            <a:pPr algn="l">
              <a:spcAft>
                <a:spcPts val="200"/>
              </a:spcAft>
            </a:pPr>
            <a:r>
              <a:rPr sz="1400" b="1">
                <a:solidFill>
                  <a:srgbClr val="161B26"/>
                </a:solidFill>
                <a:latin typeface="Arial"/>
              </a:rPr>
              <a:t>Scrum Planner</a:t>
            </a:r>
          </a:p>
          <a:p>
            <a:pPr algn="l">
              <a:spcAft>
                <a:spcPts val="200"/>
              </a:spcAft>
            </a:pPr>
            <a:r>
              <a:rPr sz="950" b="0">
                <a:solidFill>
                  <a:srgbClr val="7C3AED"/>
                </a:solidFill>
                <a:latin typeface="Arial"/>
              </a:rPr>
              <a:t>alfredang.github.io/scrum/</a:t>
            </a:r>
          </a:p>
        </p:txBody>
      </p:sp>
      <p:sp>
        <p:nvSpPr>
          <p:cNvPr id="24" name="TextBox 23"/>
          <p:cNvSpPr txBox="1"/>
          <p:nvPr/>
        </p:nvSpPr>
        <p:spPr>
          <a:xfrm>
            <a:off x="4983480" y="3604564"/>
            <a:ext cx="6199632" cy="791870"/>
          </a:xfrm>
          <a:prstGeom prst="rect">
            <a:avLst/>
          </a:prstGeom>
          <a:noFill/>
        </p:spPr>
        <p:txBody>
          <a:bodyPr wrap="square" anchor="ctr">
            <a:spAutoFit/>
          </a:bodyPr>
          <a:lstStyle/>
          <a:p>
            <a:pPr algn="l">
              <a:spcAft>
                <a:spcPts val="400"/>
              </a:spcAft>
            </a:pPr>
            <a:r>
              <a:rPr sz="1200" b="0">
                <a:solidFill>
                  <a:srgbClr val="5B6372"/>
                </a:solidFill>
                <a:latin typeface="Arial"/>
              </a:rPr>
              <a:t>Turn validated design concepts into a prioritised product backlog and sprint plan.</a:t>
            </a:r>
          </a:p>
        </p:txBody>
      </p:sp>
      <p:sp>
        <p:nvSpPr>
          <p:cNvPr id="25" name="Rectangle 24"/>
          <p:cNvSpPr/>
          <p:nvPr/>
        </p:nvSpPr>
        <p:spPr>
          <a:xfrm>
            <a:off x="777240" y="4515306"/>
            <a:ext cx="10634472" cy="791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15306"/>
            <a:ext cx="91440" cy="791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51560" y="4691785"/>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4691785"/>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1673352" y="4515306"/>
            <a:ext cx="3200400" cy="791870"/>
          </a:xfrm>
          <a:prstGeom prst="rect">
            <a:avLst/>
          </a:prstGeom>
          <a:noFill/>
        </p:spPr>
        <p:txBody>
          <a:bodyPr wrap="square" anchor="ctr">
            <a:spAutoFit/>
          </a:bodyPr>
          <a:lstStyle/>
          <a:p>
            <a:pPr algn="l">
              <a:spcAft>
                <a:spcPts val="200"/>
              </a:spcAft>
            </a:pPr>
            <a:r>
              <a:rPr sz="1400" b="1">
                <a:solidFill>
                  <a:srgbClr val="161B26"/>
                </a:solidFill>
                <a:latin typeface="Arial"/>
              </a:rPr>
              <a:t>Digital Transformation Canvas</a:t>
            </a:r>
          </a:p>
          <a:p>
            <a:pPr algn="l">
              <a:spcAft>
                <a:spcPts val="200"/>
              </a:spcAft>
            </a:pPr>
            <a:r>
              <a:rPr sz="950" b="0">
                <a:solidFill>
                  <a:srgbClr val="F59E0B"/>
                </a:solidFill>
                <a:latin typeface="Arial"/>
              </a:rPr>
              <a:t>alfredang.github.io/digitaltransformation/</a:t>
            </a:r>
          </a:p>
        </p:txBody>
      </p:sp>
      <p:sp>
        <p:nvSpPr>
          <p:cNvPr id="30" name="TextBox 29"/>
          <p:cNvSpPr txBox="1"/>
          <p:nvPr/>
        </p:nvSpPr>
        <p:spPr>
          <a:xfrm>
            <a:off x="4983480" y="4515306"/>
            <a:ext cx="6199632" cy="791870"/>
          </a:xfrm>
          <a:prstGeom prst="rect">
            <a:avLst/>
          </a:prstGeom>
          <a:noFill/>
        </p:spPr>
        <p:txBody>
          <a:bodyPr wrap="square" anchor="ctr">
            <a:spAutoFit/>
          </a:bodyPr>
          <a:lstStyle/>
          <a:p>
            <a:pPr algn="l">
              <a:spcAft>
                <a:spcPts val="400"/>
              </a:spcAft>
            </a:pPr>
            <a:r>
              <a:rPr sz="1200" b="0">
                <a:solidFill>
                  <a:srgbClr val="5B6372"/>
                </a:solidFill>
                <a:latin typeface="Arial"/>
              </a:rPr>
              <a:t>Position a design initiative within the organisation's wider transformation roadmap.</a:t>
            </a:r>
          </a:p>
        </p:txBody>
      </p:sp>
      <p:sp>
        <p:nvSpPr>
          <p:cNvPr id="31" name="Rectangle 30"/>
          <p:cNvSpPr/>
          <p:nvPr/>
        </p:nvSpPr>
        <p:spPr>
          <a:xfrm>
            <a:off x="777240" y="5426048"/>
            <a:ext cx="10634472" cy="791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26048"/>
            <a:ext cx="91440" cy="791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51560" y="5602527"/>
            <a:ext cx="438912" cy="43891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5602527"/>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5" name="TextBox 34"/>
          <p:cNvSpPr txBox="1"/>
          <p:nvPr/>
        </p:nvSpPr>
        <p:spPr>
          <a:xfrm>
            <a:off x="1673352" y="5426048"/>
            <a:ext cx="3200400" cy="791870"/>
          </a:xfrm>
          <a:prstGeom prst="rect">
            <a:avLst/>
          </a:prstGeom>
          <a:noFill/>
        </p:spPr>
        <p:txBody>
          <a:bodyPr wrap="square" anchor="ctr">
            <a:spAutoFit/>
          </a:bodyPr>
          <a:lstStyle/>
          <a:p>
            <a:pPr algn="l">
              <a:spcAft>
                <a:spcPts val="200"/>
              </a:spcAft>
            </a:pPr>
            <a:r>
              <a:rPr sz="1400" b="1">
                <a:solidFill>
                  <a:srgbClr val="161B26"/>
                </a:solidFill>
                <a:latin typeface="Arial"/>
              </a:rPr>
              <a:t>Business Continuity Management</a:t>
            </a:r>
          </a:p>
          <a:p>
            <a:pPr algn="l">
              <a:spcAft>
                <a:spcPts val="200"/>
              </a:spcAft>
            </a:pPr>
            <a:r>
              <a:rPr sz="950" b="0">
                <a:solidFill>
                  <a:srgbClr val="1F6FEB"/>
                </a:solidFill>
                <a:latin typeface="Arial"/>
              </a:rPr>
              <a:t>alfredang.github.io/bcm/</a:t>
            </a:r>
          </a:p>
        </p:txBody>
      </p:sp>
      <p:sp>
        <p:nvSpPr>
          <p:cNvPr id="36" name="TextBox 35"/>
          <p:cNvSpPr txBox="1"/>
          <p:nvPr/>
        </p:nvSpPr>
        <p:spPr>
          <a:xfrm>
            <a:off x="4983480" y="5426048"/>
            <a:ext cx="6199632" cy="791870"/>
          </a:xfrm>
          <a:prstGeom prst="rect">
            <a:avLst/>
          </a:prstGeom>
          <a:noFill/>
        </p:spPr>
        <p:txBody>
          <a:bodyPr wrap="square" anchor="ctr">
            <a:spAutoFit/>
          </a:bodyPr>
          <a:lstStyle/>
          <a:p>
            <a:pPr algn="l">
              <a:spcAft>
                <a:spcPts val="400"/>
              </a:spcAft>
            </a:pPr>
            <a:r>
              <a:rPr sz="1200" b="0">
                <a:solidFill>
                  <a:srgbClr val="5B6372"/>
                </a:solidFill>
                <a:latin typeface="Arial"/>
              </a:rPr>
              <a:t>Stress-test a design solution for operational risk and continuity before rollout.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FOR DESIGN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Design Thinking Practices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DSN-ACE-3014-1.1</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Abilities assessed</a:t>
            </a:r>
          </a:p>
          <a:p>
            <a:pPr algn="l">
              <a:spcAft>
                <a:spcPts val="300"/>
              </a:spcAft>
            </a:pPr>
            <a:r>
              <a:rPr sz="1200" b="0">
                <a:solidFill>
                  <a:srgbClr val="5B6372"/>
                </a:solidFill>
                <a:latin typeface="Arial"/>
              </a:rPr>
              <a:t>A1–A6: apply methodologies, uncover opportunities, use metrics, embed practice, facilitate prototypes, communicate outcomes.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Knowledge assessed</a:t>
            </a:r>
          </a:p>
          <a:p>
            <a:pPr algn="l">
              <a:spcAft>
                <a:spcPts val="300"/>
              </a:spcAft>
            </a:pPr>
            <a:r>
              <a:rPr sz="1200" b="0">
                <a:solidFill>
                  <a:srgbClr val="5B6372"/>
                </a:solidFill>
                <a:latin typeface="Arial"/>
              </a:rPr>
              <a:t>K1–K7: concepts, importance, traits, use cases, organisational approaches, methods and metrics.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Lesson Plan — 1 Day, 8 Course Hours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2" name="TextBox 11"/>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b="0">
                <a:solidFill>
                  <a:srgbClr val="161B26"/>
                </a:solidFill>
                <a:latin typeface="Arial"/>
              </a:rPr>
              <a:t>•  Morning — 9:30am to 12:45pm</a:t>
            </a:r>
          </a:p>
          <a:p>
            <a:pPr>
              <a:spcAft>
                <a:spcPts val="1000"/>
              </a:spcAft>
            </a:pPr>
            <a:r>
              <a:rPr sz="1300" b="0">
                <a:solidFill>
                  <a:srgbClr val="5B6372"/>
                </a:solidFill>
                <a:latin typeface="Arial"/>
              </a:rPr>
              <a:t>–  Digital Attendance (AM), introductions, learning outcomes</a:t>
            </a:r>
          </a:p>
          <a:p>
            <a:pPr>
              <a:spcAft>
                <a:spcPts val="1000"/>
              </a:spcAft>
            </a:pPr>
            <a:r>
              <a:rPr sz="1300" b="0">
                <a:solidFill>
                  <a:srgbClr val="5B6372"/>
                </a:solidFill>
                <a:latin typeface="Arial"/>
              </a:rPr>
              <a:t>–  Topic 1: Key Concepts &amp; Principles (Activities 1–2)</a:t>
            </a:r>
          </a:p>
          <a:p>
            <a:pPr>
              <a:spcAft>
                <a:spcPts val="1000"/>
              </a:spcAft>
            </a:pPr>
            <a:r>
              <a:rPr sz="1300" b="0">
                <a:solidFill>
                  <a:srgbClr val="5B6372"/>
                </a:solidFill>
                <a:latin typeface="Arial"/>
              </a:rPr>
              <a:t>–  Topic 2: Applications of Design Thinking (Activity 3)</a:t>
            </a:r>
          </a:p>
          <a:p>
            <a:pPr>
              <a:spcAft>
                <a:spcPts val="1000"/>
              </a:spcAft>
            </a:pPr>
            <a:r>
              <a:rPr sz="1300" b="0">
                <a:solidFill>
                  <a:srgbClr val="5B6372"/>
                </a:solidFill>
                <a:latin typeface="Arial"/>
              </a:rPr>
              <a:t>–  Tea break taken within training time</a:t>
            </a:r>
          </a:p>
          <a:p>
            <a:pPr>
              <a:spcAft>
                <a:spcPts val="1000"/>
              </a:spcAft>
            </a:pPr>
            <a:r>
              <a:rPr sz="1300" b="0">
                <a:solidFill>
                  <a:srgbClr val="5B6372"/>
                </a:solidFill>
                <a:latin typeface="Arial"/>
              </a:rPr>
              <a:t>–  Lunch break 12:45pm – 1:45pm</a:t>
            </a:r>
          </a:p>
        </p:txBody>
      </p:sp>
      <p:sp>
        <p:nvSpPr>
          <p:cNvPr id="14" name="TextBox 13"/>
          <p:cNvSpPr txBox="1"/>
          <p:nvPr/>
        </p:nvSpPr>
        <p:spPr>
          <a:xfrm>
            <a:off x="6583680" y="2514600"/>
            <a:ext cx="4617720" cy="3383280"/>
          </a:xfrm>
          <a:prstGeom prst="rect">
            <a:avLst/>
          </a:prstGeom>
          <a:noFill/>
        </p:spPr>
        <p:txBody>
          <a:bodyPr wrap="square">
            <a:spAutoFit/>
          </a:bodyPr>
          <a:lstStyle/>
          <a:p>
            <a:pPr>
              <a:spcAft>
                <a:spcPts val="1000"/>
              </a:spcAft>
            </a:pPr>
            <a:r>
              <a:rPr sz="1500" b="0">
                <a:solidFill>
                  <a:srgbClr val="161B26"/>
                </a:solidFill>
                <a:latin typeface="Arial"/>
              </a:rPr>
              <a:t>•  Afternoon — 1:45pm to 6:30pm</a:t>
            </a:r>
          </a:p>
          <a:p>
            <a:pPr>
              <a:spcAft>
                <a:spcPts val="1000"/>
              </a:spcAft>
            </a:pPr>
            <a:r>
              <a:rPr sz="1300" b="0">
                <a:solidFill>
                  <a:srgbClr val="5B6372"/>
                </a:solidFill>
                <a:latin typeface="Arial"/>
              </a:rPr>
              <a:t>–  Digital Attendance (PM)</a:t>
            </a:r>
          </a:p>
          <a:p>
            <a:pPr>
              <a:spcAft>
                <a:spcPts val="1000"/>
              </a:spcAft>
            </a:pPr>
            <a:r>
              <a:rPr sz="1300" b="0">
                <a:solidFill>
                  <a:srgbClr val="5B6372"/>
                </a:solidFill>
                <a:latin typeface="Arial"/>
              </a:rPr>
              <a:t>–  Topic 3: Action Phases — the Wallet Project (Activity 4)</a:t>
            </a:r>
          </a:p>
          <a:p>
            <a:pPr>
              <a:spcAft>
                <a:spcPts val="1000"/>
              </a:spcAft>
            </a:pPr>
            <a:r>
              <a:rPr sz="1300" b="0">
                <a:solidFill>
                  <a:srgbClr val="5B6372"/>
                </a:solidFill>
                <a:latin typeface="Arial"/>
              </a:rPr>
              <a:t>–  Topic 4: Methodologies &amp; Visual Tools (Activities 5–7)</a:t>
            </a:r>
          </a:p>
          <a:p>
            <a:pPr>
              <a:spcAft>
                <a:spcPts val="1000"/>
              </a:spcAft>
            </a:pPr>
            <a:r>
              <a:rPr sz="1300" b="0">
                <a:solidFill>
                  <a:srgbClr val="5B6372"/>
                </a:solidFill>
                <a:latin typeface="Arial"/>
              </a:rPr>
              <a:t>–  Tea break taken within training time</a:t>
            </a:r>
          </a:p>
          <a:p>
            <a:pPr>
              <a:spcAft>
                <a:spcPts val="1000"/>
              </a:spcAft>
            </a:pPr>
            <a:r>
              <a:rPr sz="1300" b="0">
                <a:solidFill>
                  <a:srgbClr val="5B6372"/>
                </a:solidFill>
                <a:latin typeface="Arial"/>
              </a:rPr>
              <a:t>–  Course feedback, TRAQOM survey and Final Assessment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LO1 · Understand</a:t>
            </a:r>
          </a:p>
          <a:p>
            <a:pPr algn="l">
              <a:spcAft>
                <a:spcPts val="300"/>
              </a:spcAft>
            </a:pPr>
            <a:r>
              <a:rPr sz="1200" b="0">
                <a:solidFill>
                  <a:srgbClr val="5B6372"/>
                </a:solidFill>
                <a:latin typeface="Arial"/>
              </a:rPr>
              <a:t>Key concepts of design thinking, to communicate design outcomes.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LO2 · Apply</a:t>
            </a:r>
          </a:p>
          <a:p>
            <a:pPr algn="l">
              <a:spcAft>
                <a:spcPts val="300"/>
              </a:spcAft>
            </a:pPr>
            <a:r>
              <a:rPr sz="1200" b="0">
                <a:solidFill>
                  <a:srgbClr val="5B6372"/>
                </a:solidFill>
                <a:latin typeface="Arial"/>
              </a:rPr>
              <a:t>Design thinking to generate new ideas for the organisation.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LO3 · Uncover</a:t>
            </a:r>
          </a:p>
          <a:p>
            <a:pPr algn="l">
              <a:spcAft>
                <a:spcPts val="300"/>
              </a:spcAft>
            </a:pPr>
            <a:r>
              <a:rPr sz="1200" b="0">
                <a:solidFill>
                  <a:srgbClr val="5B6372"/>
                </a:solidFill>
                <a:latin typeface="Arial"/>
              </a:rPr>
              <a:t>Opportunities for applying design thinking.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LO4 · Implement</a:t>
            </a:r>
          </a:p>
          <a:p>
            <a:pPr algn="l">
              <a:spcAft>
                <a:spcPts val="300"/>
              </a:spcAft>
            </a:pPr>
            <a:r>
              <a:rPr sz="1200" b="0">
                <a:solidFill>
                  <a:srgbClr val="5B6372"/>
                </a:solidFill>
                <a:latin typeface="Arial"/>
              </a:rPr>
              <a:t>Plans to embed the stages of design thinking across the organisation.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LO5 · Execute</a:t>
            </a:r>
          </a:p>
          <a:p>
            <a:pPr algn="l">
              <a:spcAft>
                <a:spcPts val="300"/>
              </a:spcAft>
            </a:pPr>
            <a:r>
              <a:rPr sz="1200" b="0">
                <a:solidFill>
                  <a:srgbClr val="5B6372"/>
                </a:solidFill>
                <a:latin typeface="Arial"/>
              </a:rPr>
              <a:t>The design concept through prototypes.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LO6 · Measure</a:t>
            </a:r>
          </a:p>
          <a:p>
            <a:pPr algn="l">
              <a:spcAft>
                <a:spcPts val="300"/>
              </a:spcAft>
            </a:pPr>
            <a:r>
              <a:rPr sz="1200" b="0">
                <a:solidFill>
                  <a:srgbClr val="5B6372"/>
                </a:solidFill>
                <a:latin typeface="Arial"/>
              </a:rPr>
              <a:t>Outcomes of design ideas and solutions using metrics.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SIT THE ASSESSMENT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Phones away</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photos</a:t>
            </a:r>
          </a:p>
          <a:p>
            <a:pPr algn="l">
              <a:spcAft>
                <a:spcPts val="300"/>
              </a:spcAft>
            </a:pPr>
            <a:r>
              <a:rPr sz="1200" b="0">
                <a:solidFill>
                  <a:srgbClr val="5B6372"/>
                </a:solidFill>
                <a:latin typeface="Arial"/>
              </a:rPr>
              <a:t>No photographs or recording of the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 is up</a:t>
            </a:r>
          </a:p>
          <a:p>
            <a:pPr algn="l">
              <a:spcAft>
                <a:spcPts val="300"/>
              </a:spcAft>
            </a:pPr>
            <a:r>
              <a:rPr sz="1200" b="0">
                <a:solidFill>
                  <a:srgbClr val="5B6372"/>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5721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5721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48840"/>
            <a:ext cx="4517136" cy="502920"/>
          </a:xfrm>
          <a:prstGeom prst="rect">
            <a:avLst/>
          </a:prstGeom>
          <a:noFill/>
        </p:spPr>
        <p:txBody>
          <a:bodyPr wrap="square" anchor="t">
            <a:spAutoFit/>
          </a:bodyPr>
          <a:lstStyle/>
          <a:p>
            <a:pPr algn="l">
              <a:spcAft>
                <a:spcPts val="400"/>
              </a:spcAft>
            </a:pPr>
            <a:r>
              <a:rPr sz="2000" b="1">
                <a:solidFill>
                  <a:srgbClr val="10B981"/>
                </a:solidFill>
                <a:latin typeface="Arial"/>
              </a:rPr>
              <a:t>Practical Performance (PP)</a:t>
            </a:r>
          </a:p>
        </p:txBody>
      </p:sp>
      <p:sp>
        <p:nvSpPr>
          <p:cNvPr id="10" name="TextBox 9"/>
          <p:cNvSpPr txBox="1"/>
          <p:nvPr/>
        </p:nvSpPr>
        <p:spPr>
          <a:xfrm>
            <a:off x="1097280" y="2743200"/>
            <a:ext cx="4517136" cy="365760"/>
          </a:xfrm>
          <a:prstGeom prst="rect">
            <a:avLst/>
          </a:prstGeom>
          <a:noFill/>
        </p:spPr>
        <p:txBody>
          <a:bodyPr wrap="square" anchor="t">
            <a:spAutoFit/>
          </a:bodyPr>
          <a:lstStyle/>
          <a:p>
            <a:pPr algn="l">
              <a:spcAft>
                <a:spcPts val="400"/>
              </a:spcAft>
            </a:pPr>
            <a:r>
              <a:rPr sz="1500" b="1">
                <a:solidFill>
                  <a:srgbClr val="161B26"/>
                </a:solidFill>
                <a:latin typeface="Arial"/>
              </a:rPr>
              <a:t>Design-thinking tasks</a:t>
            </a:r>
          </a:p>
        </p:txBody>
      </p:sp>
      <p:sp>
        <p:nvSpPr>
          <p:cNvPr id="11" name="Rectangle 10"/>
          <p:cNvSpPr/>
          <p:nvPr/>
        </p:nvSpPr>
        <p:spPr>
          <a:xfrm>
            <a:off x="1097280" y="3246120"/>
            <a:ext cx="2651760"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246120"/>
            <a:ext cx="2651760" cy="347472"/>
          </a:xfrm>
          <a:prstGeom prst="rect">
            <a:avLst/>
          </a:prstGeom>
          <a:noFill/>
        </p:spPr>
        <p:txBody>
          <a:bodyPr wrap="square" anchor="ctr">
            <a:spAutoFit/>
          </a:bodyPr>
          <a:lstStyle/>
          <a:p>
            <a:pPr algn="ctr">
              <a:spcAft>
                <a:spcPts val="400"/>
              </a:spcAft>
            </a:pPr>
            <a:r>
              <a:rPr sz="1200" b="1">
                <a:solidFill>
                  <a:srgbClr val="FFFFFF"/>
                </a:solidFill>
                <a:latin typeface="Arial"/>
              </a:rPr>
              <a:t>70 minutes  ·  Open book</a:t>
            </a:r>
          </a:p>
        </p:txBody>
      </p:sp>
      <p:sp>
        <p:nvSpPr>
          <p:cNvPr id="13" name="TextBox 12"/>
          <p:cNvSpPr txBox="1"/>
          <p:nvPr/>
        </p:nvSpPr>
        <p:spPr>
          <a:xfrm>
            <a:off x="1097280" y="3794760"/>
            <a:ext cx="4517136" cy="777240"/>
          </a:xfrm>
          <a:prstGeom prst="rect">
            <a:avLst/>
          </a:prstGeom>
          <a:noFill/>
        </p:spPr>
        <p:txBody>
          <a:bodyPr wrap="square" anchor="t">
            <a:spAutoFit/>
          </a:bodyPr>
          <a:lstStyle/>
          <a:p>
            <a:pPr algn="l">
              <a:spcAft>
                <a:spcPts val="400"/>
              </a:spcAft>
            </a:pPr>
            <a:r>
              <a:rPr sz="1300" b="0">
                <a:solidFill>
                  <a:srgbClr val="5B6372"/>
                </a:solidFill>
                <a:latin typeface="Arial"/>
              </a:rPr>
              <a:t>Tests your ABILITY to apply the methods using the course ed-tools.</a:t>
            </a:r>
          </a:p>
        </p:txBody>
      </p:sp>
      <p:sp>
        <p:nvSpPr>
          <p:cNvPr id="14" name="Rectangle 13"/>
          <p:cNvSpPr/>
          <p:nvPr/>
        </p:nvSpPr>
        <p:spPr>
          <a:xfrm>
            <a:off x="6254496" y="1828800"/>
            <a:ext cx="515721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54496" y="1828800"/>
            <a:ext cx="515721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74536" y="2148840"/>
            <a:ext cx="4517136" cy="502920"/>
          </a:xfrm>
          <a:prstGeom prst="rect">
            <a:avLst/>
          </a:prstGeom>
          <a:noFill/>
        </p:spPr>
        <p:txBody>
          <a:bodyPr wrap="square" anchor="t">
            <a:spAutoFit/>
          </a:bodyPr>
          <a:lstStyle/>
          <a:p>
            <a:pPr algn="l">
              <a:spcAft>
                <a:spcPts val="400"/>
              </a:spcAft>
            </a:pPr>
            <a:r>
              <a:rPr sz="2000" b="1">
                <a:solidFill>
                  <a:srgbClr val="1F6FEB"/>
                </a:solidFill>
                <a:latin typeface="Arial"/>
              </a:rPr>
              <a:t>Oral Questioning (OQ)</a:t>
            </a:r>
          </a:p>
        </p:txBody>
      </p:sp>
      <p:sp>
        <p:nvSpPr>
          <p:cNvPr id="17" name="TextBox 16"/>
          <p:cNvSpPr txBox="1"/>
          <p:nvPr/>
        </p:nvSpPr>
        <p:spPr>
          <a:xfrm>
            <a:off x="6574536" y="2743200"/>
            <a:ext cx="4517136" cy="365760"/>
          </a:xfrm>
          <a:prstGeom prst="rect">
            <a:avLst/>
          </a:prstGeom>
          <a:noFill/>
        </p:spPr>
        <p:txBody>
          <a:bodyPr wrap="square" anchor="t">
            <a:spAutoFit/>
          </a:bodyPr>
          <a:lstStyle/>
          <a:p>
            <a:pPr algn="l">
              <a:spcAft>
                <a:spcPts val="400"/>
              </a:spcAft>
            </a:pPr>
            <a:r>
              <a:rPr sz="1500" b="1">
                <a:solidFill>
                  <a:srgbClr val="161B26"/>
                </a:solidFill>
                <a:latin typeface="Arial"/>
              </a:rPr>
              <a:t>Verbal questions from the assessor</a:t>
            </a:r>
          </a:p>
        </p:txBody>
      </p:sp>
      <p:sp>
        <p:nvSpPr>
          <p:cNvPr id="18" name="Rectangle 17"/>
          <p:cNvSpPr/>
          <p:nvPr/>
        </p:nvSpPr>
        <p:spPr>
          <a:xfrm>
            <a:off x="6574536" y="3246120"/>
            <a:ext cx="2651760" cy="3474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36" y="3246120"/>
            <a:ext cx="2651760" cy="347472"/>
          </a:xfrm>
          <a:prstGeom prst="rect">
            <a:avLst/>
          </a:prstGeom>
          <a:noFill/>
        </p:spPr>
        <p:txBody>
          <a:bodyPr wrap="square" anchor="ctr">
            <a:spAutoFit/>
          </a:bodyPr>
          <a:lstStyle/>
          <a:p>
            <a:pPr algn="ctr">
              <a:spcAft>
                <a:spcPts val="400"/>
              </a:spcAft>
            </a:pPr>
            <a:r>
              <a:rPr sz="1200" b="1">
                <a:solidFill>
                  <a:srgbClr val="FFFFFF"/>
                </a:solidFill>
                <a:latin typeface="Arial"/>
              </a:rPr>
              <a:t>20 minutes  ·  Open book</a:t>
            </a:r>
          </a:p>
        </p:txBody>
      </p:sp>
      <p:sp>
        <p:nvSpPr>
          <p:cNvPr id="20" name="TextBox 19"/>
          <p:cNvSpPr txBox="1"/>
          <p:nvPr/>
        </p:nvSpPr>
        <p:spPr>
          <a:xfrm>
            <a:off x="6574536" y="3794760"/>
            <a:ext cx="4517136" cy="777240"/>
          </a:xfrm>
          <a:prstGeom prst="rect">
            <a:avLst/>
          </a:prstGeom>
          <a:noFill/>
        </p:spPr>
        <p:txBody>
          <a:bodyPr wrap="square" anchor="t">
            <a:spAutoFit/>
          </a:bodyPr>
          <a:lstStyle/>
          <a:p>
            <a:pPr algn="l">
              <a:spcAft>
                <a:spcPts val="400"/>
              </a:spcAft>
            </a:pPr>
            <a:r>
              <a:rPr sz="1300" b="0">
                <a:solidFill>
                  <a:srgbClr val="5B6372"/>
                </a:solidFill>
                <a:latin typeface="Arial"/>
              </a:rPr>
              <a:t>Tests your KNOWLEDGE of design thinking concepts, phases, tools and metrics.</a:t>
            </a:r>
          </a:p>
        </p:txBody>
      </p:sp>
      <p:sp>
        <p:nvSpPr>
          <p:cNvPr id="21" name="Rectangle 20"/>
          <p:cNvSpPr/>
          <p:nvPr/>
        </p:nvSpPr>
        <p:spPr>
          <a:xfrm>
            <a:off x="777240" y="4983480"/>
            <a:ext cx="10634472" cy="1005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983480"/>
            <a:ext cx="91440"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4983480"/>
            <a:ext cx="9994392" cy="1005840"/>
          </a:xfrm>
          <a:prstGeom prst="rect">
            <a:avLst/>
          </a:prstGeom>
          <a:noFill/>
        </p:spPr>
        <p:txBody>
          <a:bodyPr wrap="square" anchor="ctr">
            <a:spAutoFit/>
          </a:bodyPr>
          <a:lstStyle/>
          <a:p>
            <a:pPr algn="l">
              <a:spcAft>
                <a:spcPts val="300"/>
              </a:spcAft>
            </a:pPr>
            <a:r>
              <a:rPr sz="1500" b="1">
                <a:solidFill>
                  <a:srgbClr val="127A3E"/>
                </a:solidFill>
                <a:latin typeface="Arial"/>
              </a:rPr>
              <a:t>📖  Open book  ·  you must be assessed 'Competent' in both instruments</a:t>
            </a:r>
          </a:p>
          <a:p>
            <a:pPr algn="l">
              <a:spcAft>
                <a:spcPts val="300"/>
              </a:spcAft>
            </a:pPr>
            <a:r>
              <a:rPr sz="1200" b="0">
                <a:solidFill>
                  <a:srgbClr val="161B26"/>
                </a:solidFill>
                <a:latin typeface="Arial"/>
              </a:rPr>
              <a:t>Permitted materials: the course slides, the Learner Guide and approved materials only. A minimum of 75% attendance is required to be eligible. An appeal process is available if required.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53288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886968" y="3474720"/>
            <a:ext cx="1658721" cy="457200"/>
          </a:xfrm>
          <a:prstGeom prst="rect">
            <a:avLst/>
          </a:prstGeom>
          <a:noFill/>
        </p:spPr>
        <p:txBody>
          <a:bodyPr wrap="square" anchor="t">
            <a:spAutoFit/>
          </a:bodyPr>
          <a:lstStyle/>
          <a:p>
            <a:pPr algn="ctr">
              <a:spcAft>
                <a:spcPts val="400"/>
              </a:spcAft>
            </a:pPr>
            <a:r>
              <a:rPr sz="1700" b="1">
                <a:solidFill>
                  <a:srgbClr val="1F6FEB"/>
                </a:solidFill>
                <a:latin typeface="Arial"/>
              </a:rPr>
              <a:t>TRAQOM</a:t>
            </a:r>
          </a:p>
        </p:txBody>
      </p:sp>
      <p:sp>
        <p:nvSpPr>
          <p:cNvPr id="12" name="TextBox 11"/>
          <p:cNvSpPr txBox="1"/>
          <p:nvPr/>
        </p:nvSpPr>
        <p:spPr>
          <a:xfrm>
            <a:off x="905256"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Scan the QR code on the LMS</a:t>
            </a:r>
          </a:p>
        </p:txBody>
      </p:sp>
      <p:sp>
        <p:nvSpPr>
          <p:cNvPr id="13" name="TextBox 12"/>
          <p:cNvSpPr txBox="1"/>
          <p:nvPr/>
        </p:nvSpPr>
        <p:spPr>
          <a:xfrm>
            <a:off x="2618841" y="347472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4" name="Rectangle 13"/>
          <p:cNvSpPr/>
          <p:nvPr/>
        </p:nvSpPr>
        <p:spPr>
          <a:xfrm>
            <a:off x="2966313"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6313" y="214884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0497" y="253288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0497"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8" name="TextBox 17"/>
          <p:cNvSpPr txBox="1"/>
          <p:nvPr/>
        </p:nvSpPr>
        <p:spPr>
          <a:xfrm>
            <a:off x="3076041" y="3474720"/>
            <a:ext cx="1658721" cy="457200"/>
          </a:xfrm>
          <a:prstGeom prst="rect">
            <a:avLst/>
          </a:prstGeom>
          <a:noFill/>
        </p:spPr>
        <p:txBody>
          <a:bodyPr wrap="square" anchor="t">
            <a:spAutoFit/>
          </a:bodyPr>
          <a:lstStyle/>
          <a:p>
            <a:pPr algn="ctr">
              <a:spcAft>
                <a:spcPts val="400"/>
              </a:spcAft>
            </a:pPr>
            <a:r>
              <a:rPr sz="1700" b="1">
                <a:solidFill>
                  <a:srgbClr val="10B981"/>
                </a:solidFill>
                <a:latin typeface="Arial"/>
              </a:rPr>
              <a:t>Attendance</a:t>
            </a:r>
          </a:p>
        </p:txBody>
      </p:sp>
      <p:sp>
        <p:nvSpPr>
          <p:cNvPr id="19" name="TextBox 18"/>
          <p:cNvSpPr txBox="1"/>
          <p:nvPr/>
        </p:nvSpPr>
        <p:spPr>
          <a:xfrm>
            <a:off x="3094329"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Scan the SSG QR code</a:t>
            </a:r>
          </a:p>
        </p:txBody>
      </p:sp>
      <p:sp>
        <p:nvSpPr>
          <p:cNvPr id="20" name="TextBox 19"/>
          <p:cNvSpPr txBox="1"/>
          <p:nvPr/>
        </p:nvSpPr>
        <p:spPr>
          <a:xfrm>
            <a:off x="4807914" y="347472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5155386"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55386" y="214884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0" y="253288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0"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5" name="TextBox 24"/>
          <p:cNvSpPr txBox="1"/>
          <p:nvPr/>
        </p:nvSpPr>
        <p:spPr>
          <a:xfrm>
            <a:off x="5265114" y="3474720"/>
            <a:ext cx="1658721" cy="457200"/>
          </a:xfrm>
          <a:prstGeom prst="rect">
            <a:avLst/>
          </a:prstGeom>
          <a:noFill/>
        </p:spPr>
        <p:txBody>
          <a:bodyPr wrap="square" anchor="t">
            <a:spAutoFit/>
          </a:bodyPr>
          <a:lstStyle/>
          <a:p>
            <a:pPr algn="ctr">
              <a:spcAft>
                <a:spcPts val="400"/>
              </a:spcAft>
            </a:pPr>
            <a:r>
              <a:rPr sz="1700" b="1">
                <a:solidFill>
                  <a:srgbClr val="7C3AED"/>
                </a:solidFill>
                <a:latin typeface="Arial"/>
              </a:rPr>
              <a:t>Assessment</a:t>
            </a:r>
          </a:p>
        </p:txBody>
      </p:sp>
      <p:sp>
        <p:nvSpPr>
          <p:cNvPr id="26" name="TextBox 25"/>
          <p:cNvSpPr txBox="1"/>
          <p:nvPr/>
        </p:nvSpPr>
        <p:spPr>
          <a:xfrm>
            <a:off x="5283402"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Sit the PP, then answer the OQ verbally</a:t>
            </a:r>
          </a:p>
        </p:txBody>
      </p:sp>
      <p:sp>
        <p:nvSpPr>
          <p:cNvPr id="27" name="TextBox 26"/>
          <p:cNvSpPr txBox="1"/>
          <p:nvPr/>
        </p:nvSpPr>
        <p:spPr>
          <a:xfrm>
            <a:off x="6996987" y="347472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8" name="Rectangle 27"/>
          <p:cNvSpPr/>
          <p:nvPr/>
        </p:nvSpPr>
        <p:spPr>
          <a:xfrm>
            <a:off x="7344459"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4459" y="214884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08643" y="253288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8643"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32" name="TextBox 31"/>
          <p:cNvSpPr txBox="1"/>
          <p:nvPr/>
        </p:nvSpPr>
        <p:spPr>
          <a:xfrm>
            <a:off x="7454187" y="3474720"/>
            <a:ext cx="1658721" cy="457200"/>
          </a:xfrm>
          <a:prstGeom prst="rect">
            <a:avLst/>
          </a:prstGeom>
          <a:noFill/>
        </p:spPr>
        <p:txBody>
          <a:bodyPr wrap="square" anchor="t">
            <a:spAutoFit/>
          </a:bodyPr>
          <a:lstStyle/>
          <a:p>
            <a:pPr algn="ctr">
              <a:spcAft>
                <a:spcPts val="400"/>
              </a:spcAft>
            </a:pPr>
            <a:r>
              <a:rPr sz="1700" b="1">
                <a:solidFill>
                  <a:srgbClr val="F59E0B"/>
                </a:solidFill>
                <a:latin typeface="Arial"/>
              </a:rPr>
              <a:t>Submit</a:t>
            </a:r>
          </a:p>
        </p:txBody>
      </p:sp>
      <p:sp>
        <p:nvSpPr>
          <p:cNvPr id="33" name="TextBox 32"/>
          <p:cNvSpPr txBox="1"/>
          <p:nvPr/>
        </p:nvSpPr>
        <p:spPr>
          <a:xfrm>
            <a:off x="7472475"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Submit your PP answers on the LMS</a:t>
            </a:r>
          </a:p>
        </p:txBody>
      </p:sp>
      <p:sp>
        <p:nvSpPr>
          <p:cNvPr id="34" name="TextBox 33"/>
          <p:cNvSpPr txBox="1"/>
          <p:nvPr/>
        </p:nvSpPr>
        <p:spPr>
          <a:xfrm>
            <a:off x="9186060" y="347472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5" name="Rectangle 34"/>
          <p:cNvSpPr/>
          <p:nvPr/>
        </p:nvSpPr>
        <p:spPr>
          <a:xfrm>
            <a:off x="9533532"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3532" y="214884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97716" y="253288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7716"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9" name="TextBox 38"/>
          <p:cNvSpPr txBox="1"/>
          <p:nvPr/>
        </p:nvSpPr>
        <p:spPr>
          <a:xfrm>
            <a:off x="9643260" y="3474720"/>
            <a:ext cx="1658721" cy="457200"/>
          </a:xfrm>
          <a:prstGeom prst="rect">
            <a:avLst/>
          </a:prstGeom>
          <a:noFill/>
        </p:spPr>
        <p:txBody>
          <a:bodyPr wrap="square" anchor="t">
            <a:spAutoFit/>
          </a:bodyPr>
          <a:lstStyle/>
          <a:p>
            <a:pPr algn="ctr">
              <a:spcAft>
                <a:spcPts val="400"/>
              </a:spcAft>
            </a:pPr>
            <a:r>
              <a:rPr sz="1700" b="1">
                <a:solidFill>
                  <a:srgbClr val="1F6FEB"/>
                </a:solidFill>
                <a:latin typeface="Arial"/>
              </a:rPr>
              <a:t>Sign off</a:t>
            </a:r>
          </a:p>
        </p:txBody>
      </p:sp>
      <p:sp>
        <p:nvSpPr>
          <p:cNvPr id="40" name="TextBox 39"/>
          <p:cNvSpPr txBox="1"/>
          <p:nvPr/>
        </p:nvSpPr>
        <p:spPr>
          <a:xfrm>
            <a:off x="9661548"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ELIGIBILITY</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 minimum attendance rate of 75%, based on the SSG Digital Attendance record.</a:t>
            </a:r>
          </a:p>
          <a:p>
            <a:pPr>
              <a:spcAft>
                <a:spcPts val="1000"/>
              </a:spcAft>
            </a:pPr>
            <a:r>
              <a:rPr sz="2000" b="0">
                <a:solidFill>
                  <a:srgbClr val="161B26"/>
                </a:solidFill>
                <a:latin typeface="Arial"/>
              </a:rPr>
              <a:t>•  Complete the assessment and be assessed as 'Competent'.</a:t>
            </a:r>
          </a:p>
          <a:p>
            <a:pPr>
              <a:spcAft>
                <a:spcPts val="1000"/>
              </a:spcAft>
            </a:pPr>
            <a:r>
              <a:rPr sz="2000" b="0">
                <a:solidFill>
                  <a:srgbClr val="161B26"/>
                </a:solidFill>
                <a:latin typeface="Arial"/>
              </a:rPr>
              <a:t>•  Complete the mandatory TRAQOM survey on the LMS/TMS portal.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Key Concepts &amp; Principles of Design Thinking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Concept · Importance · Traits of a design thinker · Applying design thinking for the organisation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MAPPED: A6, K1, K2, K3, A1, K6</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500" b="1">
                <a:solidFill>
                  <a:srgbClr val="161B26"/>
                </a:solidFill>
                <a:latin typeface="Arial"/>
              </a:rPr>
              <a:t>Key Concepts — Key Concepts &amp; Principles of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design thinking is</a:t>
            </a:r>
          </a:p>
          <a:p>
            <a:pPr algn="l">
              <a:spcAft>
                <a:spcPts val="300"/>
              </a:spcAft>
            </a:pPr>
            <a:r>
              <a:rPr sz="1100" b="0">
                <a:solidFill>
                  <a:srgbClr val="5B6372"/>
                </a:solidFill>
                <a:latin typeface="Arial"/>
              </a:rPr>
              <a:t>A human-centred problem-solving approach that aims to improve people's experience — as much a mindset as a process.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Design-led organisations report higher market share, stronger competitive advantage and more loyal customers.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 just for designers</a:t>
            </a:r>
          </a:p>
          <a:p>
            <a:pPr algn="l">
              <a:spcAft>
                <a:spcPts val="300"/>
              </a:spcAft>
            </a:pPr>
            <a:r>
              <a:rPr sz="1100" b="0">
                <a:solidFill>
                  <a:srgbClr val="5B6372"/>
                </a:solidFill>
                <a:latin typeface="Arial"/>
              </a:rPr>
              <a:t>Anyone can think like a designer to create products and services that improve the customer experience.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Analytical vs creative</a:t>
            </a:r>
          </a:p>
          <a:p>
            <a:pPr algn="l">
              <a:spcAft>
                <a:spcPts val="300"/>
              </a:spcAft>
            </a:pPr>
            <a:r>
              <a:rPr sz="1100" b="0">
                <a:solidFill>
                  <a:srgbClr val="5B6372"/>
                </a:solidFill>
                <a:latin typeface="Arial"/>
              </a:rPr>
              <a:t>Design thinking deliberately pairs left-brain analysis with right-brain creativity.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design thinker's mindset</a:t>
            </a:r>
          </a:p>
          <a:p>
            <a:pPr algn="l">
              <a:spcAft>
                <a:spcPts val="300"/>
              </a:spcAft>
            </a:pPr>
            <a:r>
              <a:rPr sz="1100" b="0">
                <a:solidFill>
                  <a:srgbClr val="5B6372"/>
                </a:solidFill>
                <a:latin typeface="Arial"/>
              </a:rPr>
              <a:t>Think users first, ask the right questions, sketch, commit to explore, prototype to test.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Desirability · Viability · Feasibility</a:t>
            </a:r>
          </a:p>
          <a:p>
            <a:pPr algn="l">
              <a:spcAft>
                <a:spcPts val="300"/>
              </a:spcAft>
            </a:pPr>
            <a:r>
              <a:rPr sz="1100" b="0">
                <a:solidFill>
                  <a:srgbClr val="5B6372"/>
                </a:solidFill>
                <a:latin typeface="Arial"/>
              </a:rPr>
              <a:t>Organisational design thinking lives at the intersection of user desire, business viability and technical feasibility.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34440"/>
            <a:ext cx="1828800" cy="1280160"/>
          </a:xfrm>
          <a:prstGeom prst="rect">
            <a:avLst/>
          </a:prstGeom>
          <a:noFill/>
        </p:spPr>
        <p:txBody>
          <a:bodyPr wrap="square" anchor="t">
            <a:spAutoFit/>
          </a:bodyPr>
          <a:lstStyle/>
          <a:p>
            <a:pPr algn="l">
              <a:spcAft>
                <a:spcPts val="400"/>
              </a:spcAft>
            </a:pPr>
            <a:r>
              <a:rPr sz="13000" b="1">
                <a:solidFill>
                  <a:srgbClr val="E2E8F0"/>
                </a:solidFill>
                <a:latin typeface="Arial"/>
              </a:rPr>
              <a:t>“</a:t>
            </a:r>
          </a:p>
        </p:txBody>
      </p:sp>
      <p:sp>
        <p:nvSpPr>
          <p:cNvPr id="5" name="TextBox 4"/>
          <p:cNvSpPr txBox="1"/>
          <p:nvPr/>
        </p:nvSpPr>
        <p:spPr>
          <a:xfrm>
            <a:off x="1417320" y="1965960"/>
            <a:ext cx="9692640" cy="2651760"/>
          </a:xfrm>
          <a:prstGeom prst="rect">
            <a:avLst/>
          </a:prstGeom>
          <a:noFill/>
        </p:spPr>
        <p:txBody>
          <a:bodyPr wrap="square" anchor="ctr">
            <a:spAutoFit/>
          </a:bodyPr>
          <a:lstStyle/>
          <a:p>
            <a:pPr algn="l">
              <a:spcAft>
                <a:spcPts val="400"/>
              </a:spcAft>
            </a:pPr>
            <a:r>
              <a:rPr sz="3000" b="1">
                <a:solidFill>
                  <a:srgbClr val="161B26"/>
                </a:solidFill>
                <a:latin typeface="Arial"/>
              </a:rPr>
              <a:t>You've got to start with the customer experience and work backwards to the technology.</a:t>
            </a:r>
          </a:p>
        </p:txBody>
      </p:sp>
      <p:sp>
        <p:nvSpPr>
          <p:cNvPr id="6" name="Rectangle 5"/>
          <p:cNvSpPr/>
          <p:nvPr/>
        </p:nvSpPr>
        <p:spPr>
          <a:xfrm>
            <a:off x="1463040" y="4800600"/>
            <a:ext cx="1645920" cy="548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5029200"/>
            <a:ext cx="9144000" cy="822960"/>
          </a:xfrm>
          <a:prstGeom prst="rect">
            <a:avLst/>
          </a:prstGeom>
          <a:noFill/>
        </p:spPr>
        <p:txBody>
          <a:bodyPr wrap="square" anchor="t">
            <a:spAutoFit/>
          </a:bodyPr>
          <a:lstStyle/>
          <a:p>
            <a:pPr algn="l">
              <a:spcAft>
                <a:spcPts val="400"/>
              </a:spcAft>
            </a:pPr>
            <a:r>
              <a:rPr sz="1800" b="1">
                <a:solidFill>
                  <a:srgbClr val="1F6FEB"/>
                </a:solidFill>
                <a:latin typeface="Arial"/>
              </a:rPr>
              <a:t>Steve Jobs</a:t>
            </a:r>
          </a:p>
          <a:p>
            <a:pPr algn="l">
              <a:spcAft>
                <a:spcPts val="400"/>
              </a:spcAft>
            </a:pPr>
            <a:r>
              <a:rPr sz="1300" b="0">
                <a:solidFill>
                  <a:srgbClr val="5B6372"/>
                </a:solidFill>
                <a:latin typeface="Arial"/>
              </a:rPr>
              <a:t>Co-founder, Apple Inc.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What is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 problem-solving approach</a:t>
            </a:r>
          </a:p>
          <a:p>
            <a:pPr algn="l">
              <a:spcAft>
                <a:spcPts val="300"/>
              </a:spcAft>
            </a:pPr>
            <a:r>
              <a:rPr sz="1300" b="0">
                <a:solidFill>
                  <a:srgbClr val="5B6372"/>
                </a:solidFill>
                <a:latin typeface="Arial"/>
              </a:rPr>
              <a:t>Aims to improve people's experience, not just ship a product.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Human-centred</a:t>
            </a:r>
          </a:p>
          <a:p>
            <a:pPr algn="l">
              <a:spcAft>
                <a:spcPts val="300"/>
              </a:spcAft>
            </a:pPr>
            <a:r>
              <a:rPr sz="1300" b="0">
                <a:solidFill>
                  <a:srgbClr val="5B6372"/>
                </a:solidFill>
                <a:latin typeface="Arial"/>
              </a:rPr>
              <a:t>Starts from a deep understanding of customers' needs and wants.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Creative and wide</a:t>
            </a:r>
          </a:p>
          <a:p>
            <a:pPr algn="l">
              <a:spcAft>
                <a:spcPts val="300"/>
              </a:spcAft>
            </a:pPr>
            <a:r>
              <a:rPr sz="1300" b="0">
                <a:solidFill>
                  <a:srgbClr val="5B6372"/>
                </a:solidFill>
                <a:latin typeface="Arial"/>
              </a:rPr>
              <a:t>Encourages consideration of a wide array of innovative solutions.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 mindset, not only a process</a:t>
            </a:r>
          </a:p>
          <a:p>
            <a:pPr algn="l">
              <a:spcAft>
                <a:spcPts val="300"/>
              </a:spcAft>
            </a:pPr>
            <a:r>
              <a:rPr sz="1300" b="0">
                <a:solidFill>
                  <a:srgbClr val="5B6372"/>
                </a:solidFill>
                <a:latin typeface="Arial"/>
              </a:rPr>
              <a:t>How you think about the problem matters as much as the steps you follow.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34440"/>
            <a:ext cx="1828800" cy="1280160"/>
          </a:xfrm>
          <a:prstGeom prst="rect">
            <a:avLst/>
          </a:prstGeom>
          <a:noFill/>
        </p:spPr>
        <p:txBody>
          <a:bodyPr wrap="square" anchor="t">
            <a:spAutoFit/>
          </a:bodyPr>
          <a:lstStyle/>
          <a:p>
            <a:pPr algn="l">
              <a:spcAft>
                <a:spcPts val="400"/>
              </a:spcAft>
            </a:pPr>
            <a:r>
              <a:rPr sz="13000" b="1">
                <a:solidFill>
                  <a:srgbClr val="E2E8F0"/>
                </a:solidFill>
                <a:latin typeface="Arial"/>
              </a:rPr>
              <a:t>“</a:t>
            </a:r>
          </a:p>
        </p:txBody>
      </p:sp>
      <p:sp>
        <p:nvSpPr>
          <p:cNvPr id="5" name="TextBox 4"/>
          <p:cNvSpPr txBox="1"/>
          <p:nvPr/>
        </p:nvSpPr>
        <p:spPr>
          <a:xfrm>
            <a:off x="1417320" y="1965960"/>
            <a:ext cx="9692640" cy="2651760"/>
          </a:xfrm>
          <a:prstGeom prst="rect">
            <a:avLst/>
          </a:prstGeom>
          <a:noFill/>
        </p:spPr>
        <p:txBody>
          <a:bodyPr wrap="square" anchor="ctr">
            <a:spAutoFit/>
          </a:bodyPr>
          <a:lstStyle/>
          <a:p>
            <a:pPr algn="l">
              <a:spcAft>
                <a:spcPts val="400"/>
              </a:spcAft>
            </a:pPr>
            <a:r>
              <a:rPr sz="3000" b="1">
                <a:solidFill>
                  <a:srgbClr val="161B26"/>
                </a:solidFill>
                <a:latin typeface="Arial"/>
              </a:rPr>
              <a:t>Design thinking is a human-centered approach to innovation that integrates the needs of people, the possibilities of technology, and the requirements for business success.</a:t>
            </a:r>
          </a:p>
        </p:txBody>
      </p:sp>
      <p:sp>
        <p:nvSpPr>
          <p:cNvPr id="6" name="Rectangle 5"/>
          <p:cNvSpPr/>
          <p:nvPr/>
        </p:nvSpPr>
        <p:spPr>
          <a:xfrm>
            <a:off x="1463040" y="4800600"/>
            <a:ext cx="164592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5029200"/>
            <a:ext cx="9144000" cy="822960"/>
          </a:xfrm>
          <a:prstGeom prst="rect">
            <a:avLst/>
          </a:prstGeom>
          <a:noFill/>
        </p:spPr>
        <p:txBody>
          <a:bodyPr wrap="square" anchor="t">
            <a:spAutoFit/>
          </a:bodyPr>
          <a:lstStyle/>
          <a:p>
            <a:pPr algn="l">
              <a:spcAft>
                <a:spcPts val="400"/>
              </a:spcAft>
            </a:pPr>
            <a:r>
              <a:rPr sz="1800" b="1">
                <a:solidFill>
                  <a:srgbClr val="10B981"/>
                </a:solidFill>
                <a:latin typeface="Arial"/>
              </a:rPr>
              <a:t>Tim Brown</a:t>
            </a:r>
          </a:p>
          <a:p>
            <a:pPr algn="l">
              <a:spcAft>
                <a:spcPts val="400"/>
              </a:spcAft>
            </a:pPr>
            <a:r>
              <a:rPr sz="1300" b="0">
                <a:solidFill>
                  <a:srgbClr val="5B6372"/>
                </a:solidFill>
                <a:latin typeface="Arial"/>
              </a:rPr>
              <a:t>British industrial designer · President &amp; CEO of IDEO</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WHY IT MATTERS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Benefits of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Offers a problem-solving roadmap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Helps unlock innovative ideas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Solves real human problems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Creates behavioural 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Increases customer satisfaction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600" b="0">
                <a:solidFill>
                  <a:srgbClr val="161B26"/>
                </a:solidFill>
                <a:latin typeface="Arial"/>
              </a:rPr>
              <a:t>Gains competitive advantage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DESIGN-LED ORGANISATIONS OUTPERFORM</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ROI of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2452878" cy="3017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88920"/>
            <a:ext cx="2452878" cy="1188720"/>
          </a:xfrm>
          <a:prstGeom prst="rect">
            <a:avLst/>
          </a:prstGeom>
          <a:noFill/>
        </p:spPr>
        <p:txBody>
          <a:bodyPr wrap="square" anchor="t">
            <a:spAutoFit/>
          </a:bodyPr>
          <a:lstStyle/>
          <a:p>
            <a:pPr algn="ctr">
              <a:spcAft>
                <a:spcPts val="400"/>
              </a:spcAft>
            </a:pPr>
            <a:r>
              <a:rPr sz="5400" b="1">
                <a:solidFill>
                  <a:srgbClr val="1F6FEB"/>
                </a:solidFill>
                <a:latin typeface="Arial"/>
              </a:rPr>
              <a:t>41%</a:t>
            </a:r>
          </a:p>
        </p:txBody>
      </p:sp>
      <p:sp>
        <p:nvSpPr>
          <p:cNvPr id="10" name="TextBox 9"/>
          <p:cNvSpPr txBox="1"/>
          <p:nvPr/>
        </p:nvSpPr>
        <p:spPr>
          <a:xfrm>
            <a:off x="960120" y="4023360"/>
            <a:ext cx="2087118" cy="914400"/>
          </a:xfrm>
          <a:prstGeom prst="rect">
            <a:avLst/>
          </a:prstGeom>
          <a:noFill/>
        </p:spPr>
        <p:txBody>
          <a:bodyPr wrap="square" anchor="t">
            <a:spAutoFit/>
          </a:bodyPr>
          <a:lstStyle/>
          <a:p>
            <a:pPr algn="ctr">
              <a:spcAft>
                <a:spcPts val="400"/>
              </a:spcAft>
            </a:pPr>
            <a:r>
              <a:rPr sz="1500" b="0">
                <a:solidFill>
                  <a:srgbClr val="161B26"/>
                </a:solidFill>
                <a:latin typeface="Arial"/>
              </a:rPr>
              <a:t>higher market share</a:t>
            </a:r>
          </a:p>
        </p:txBody>
      </p:sp>
      <p:sp>
        <p:nvSpPr>
          <p:cNvPr id="11" name="Rectangle 10"/>
          <p:cNvSpPr/>
          <p:nvPr/>
        </p:nvSpPr>
        <p:spPr>
          <a:xfrm>
            <a:off x="3504438" y="2103120"/>
            <a:ext cx="2452878" cy="3017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210312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4438" y="2788920"/>
            <a:ext cx="2452878" cy="1188720"/>
          </a:xfrm>
          <a:prstGeom prst="rect">
            <a:avLst/>
          </a:prstGeom>
          <a:noFill/>
        </p:spPr>
        <p:txBody>
          <a:bodyPr wrap="square" anchor="t">
            <a:spAutoFit/>
          </a:bodyPr>
          <a:lstStyle/>
          <a:p>
            <a:pPr algn="ctr">
              <a:spcAft>
                <a:spcPts val="400"/>
              </a:spcAft>
            </a:pPr>
            <a:r>
              <a:rPr sz="5400" b="1">
                <a:solidFill>
                  <a:srgbClr val="10B981"/>
                </a:solidFill>
                <a:latin typeface="Arial"/>
              </a:rPr>
              <a:t>46%</a:t>
            </a:r>
          </a:p>
        </p:txBody>
      </p:sp>
      <p:sp>
        <p:nvSpPr>
          <p:cNvPr id="14" name="TextBox 13"/>
          <p:cNvSpPr txBox="1"/>
          <p:nvPr/>
        </p:nvSpPr>
        <p:spPr>
          <a:xfrm>
            <a:off x="3687318" y="4023360"/>
            <a:ext cx="2087118" cy="914400"/>
          </a:xfrm>
          <a:prstGeom prst="rect">
            <a:avLst/>
          </a:prstGeom>
          <a:noFill/>
        </p:spPr>
        <p:txBody>
          <a:bodyPr wrap="square" anchor="t">
            <a:spAutoFit/>
          </a:bodyPr>
          <a:lstStyle/>
          <a:p>
            <a:pPr algn="ctr">
              <a:spcAft>
                <a:spcPts val="400"/>
              </a:spcAft>
            </a:pPr>
            <a:r>
              <a:rPr sz="1500" b="0">
                <a:solidFill>
                  <a:srgbClr val="161B26"/>
                </a:solidFill>
                <a:latin typeface="Arial"/>
              </a:rPr>
              <a:t>competitive advantage overall</a:t>
            </a:r>
          </a:p>
        </p:txBody>
      </p:sp>
      <p:sp>
        <p:nvSpPr>
          <p:cNvPr id="15" name="Rectangle 14"/>
          <p:cNvSpPr/>
          <p:nvPr/>
        </p:nvSpPr>
        <p:spPr>
          <a:xfrm>
            <a:off x="6231636" y="2103120"/>
            <a:ext cx="2452878" cy="3017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210312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1636" y="2788920"/>
            <a:ext cx="2452878" cy="1188720"/>
          </a:xfrm>
          <a:prstGeom prst="rect">
            <a:avLst/>
          </a:prstGeom>
          <a:noFill/>
        </p:spPr>
        <p:txBody>
          <a:bodyPr wrap="square" anchor="t">
            <a:spAutoFit/>
          </a:bodyPr>
          <a:lstStyle/>
          <a:p>
            <a:pPr algn="ctr">
              <a:spcAft>
                <a:spcPts val="400"/>
              </a:spcAft>
            </a:pPr>
            <a:r>
              <a:rPr sz="5400" b="1">
                <a:solidFill>
                  <a:srgbClr val="7C3AED"/>
                </a:solidFill>
                <a:latin typeface="Arial"/>
              </a:rPr>
              <a:t>50%</a:t>
            </a:r>
          </a:p>
        </p:txBody>
      </p:sp>
      <p:sp>
        <p:nvSpPr>
          <p:cNvPr id="18" name="TextBox 17"/>
          <p:cNvSpPr txBox="1"/>
          <p:nvPr/>
        </p:nvSpPr>
        <p:spPr>
          <a:xfrm>
            <a:off x="6414516" y="4023360"/>
            <a:ext cx="2087118" cy="914400"/>
          </a:xfrm>
          <a:prstGeom prst="rect">
            <a:avLst/>
          </a:prstGeom>
          <a:noFill/>
        </p:spPr>
        <p:txBody>
          <a:bodyPr wrap="square" anchor="t">
            <a:spAutoFit/>
          </a:bodyPr>
          <a:lstStyle/>
          <a:p>
            <a:pPr algn="ctr">
              <a:spcAft>
                <a:spcPts val="400"/>
              </a:spcAft>
            </a:pPr>
            <a:r>
              <a:rPr sz="1500" b="0">
                <a:solidFill>
                  <a:srgbClr val="161B26"/>
                </a:solidFill>
                <a:latin typeface="Arial"/>
              </a:rPr>
              <a:t>more loyal customers</a:t>
            </a:r>
          </a:p>
        </p:txBody>
      </p:sp>
      <p:sp>
        <p:nvSpPr>
          <p:cNvPr id="19" name="Rectangle 18"/>
          <p:cNvSpPr/>
          <p:nvPr/>
        </p:nvSpPr>
        <p:spPr>
          <a:xfrm>
            <a:off x="8958834" y="2103120"/>
            <a:ext cx="2452878" cy="3017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210312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58834" y="2788920"/>
            <a:ext cx="2452878" cy="1188720"/>
          </a:xfrm>
          <a:prstGeom prst="rect">
            <a:avLst/>
          </a:prstGeom>
          <a:noFill/>
        </p:spPr>
        <p:txBody>
          <a:bodyPr wrap="square" anchor="t">
            <a:spAutoFit/>
          </a:bodyPr>
          <a:lstStyle/>
          <a:p>
            <a:pPr algn="ctr">
              <a:spcAft>
                <a:spcPts val="400"/>
              </a:spcAft>
            </a:pPr>
            <a:r>
              <a:rPr sz="5400" b="1">
                <a:solidFill>
                  <a:srgbClr val="F59E0B"/>
                </a:solidFill>
                <a:latin typeface="Arial"/>
              </a:rPr>
              <a:t>70%</a:t>
            </a:r>
          </a:p>
        </p:txBody>
      </p:sp>
      <p:sp>
        <p:nvSpPr>
          <p:cNvPr id="22" name="TextBox 21"/>
          <p:cNvSpPr txBox="1"/>
          <p:nvPr/>
        </p:nvSpPr>
        <p:spPr>
          <a:xfrm>
            <a:off x="9141714" y="4023360"/>
            <a:ext cx="2087118" cy="914400"/>
          </a:xfrm>
          <a:prstGeom prst="rect">
            <a:avLst/>
          </a:prstGeom>
          <a:noFill/>
        </p:spPr>
        <p:txBody>
          <a:bodyPr wrap="square" anchor="t">
            <a:spAutoFit/>
          </a:bodyPr>
          <a:lstStyle/>
          <a:p>
            <a:pPr algn="ctr">
              <a:spcAft>
                <a:spcPts val="400"/>
              </a:spcAft>
            </a:pPr>
            <a:r>
              <a:rPr sz="1500" b="0">
                <a:solidFill>
                  <a:srgbClr val="161B26"/>
                </a:solidFill>
                <a:latin typeface="Arial"/>
              </a:rPr>
              <a:t>digital experiences beat competitors</a:t>
            </a:r>
          </a:p>
        </p:txBody>
      </p:sp>
      <p:sp>
        <p:nvSpPr>
          <p:cNvPr id="23" name="TextBox 22"/>
          <p:cNvSpPr txBox="1"/>
          <p:nvPr/>
        </p:nvSpPr>
        <p:spPr>
          <a:xfrm>
            <a:off x="777240" y="5440680"/>
            <a:ext cx="10607040" cy="365760"/>
          </a:xfrm>
          <a:prstGeom prst="rect">
            <a:avLst/>
          </a:prstGeom>
          <a:noFill/>
        </p:spPr>
        <p:txBody>
          <a:bodyPr wrap="square" anchor="t">
            <a:spAutoFit/>
          </a:bodyPr>
          <a:lstStyle/>
          <a:p>
            <a:pPr algn="l">
              <a:spcAft>
                <a:spcPts val="400"/>
              </a:spcAft>
            </a:pPr>
            <a:r>
              <a:rPr sz="1100" b="0">
                <a:solidFill>
                  <a:srgbClr val="5B6372"/>
                </a:solidFill>
                <a:latin typeface="Arial"/>
              </a:rPr>
              <a:t>Source: Design Management Institute — dmi.org/page/2015DVIandOTW</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DESIGN THINKING USES BOTH</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Analytical and Creative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Analysis</a:t>
            </a:r>
          </a:p>
        </p:txBody>
      </p:sp>
      <p:sp>
        <p:nvSpPr>
          <p:cNvPr id="12" name="TextBox 11"/>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Creativity</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b="0">
                <a:solidFill>
                  <a:srgbClr val="161B26"/>
                </a:solidFill>
                <a:latin typeface="Arial"/>
              </a:rPr>
              <a:t>•  Left brain</a:t>
            </a:r>
          </a:p>
          <a:p>
            <a:pPr>
              <a:spcAft>
                <a:spcPts val="1000"/>
              </a:spcAft>
            </a:pPr>
            <a:r>
              <a:rPr sz="1300" b="0">
                <a:solidFill>
                  <a:srgbClr val="5B6372"/>
                </a:solidFill>
                <a:latin typeface="Arial"/>
              </a:rPr>
              <a:t>–  Analytical</a:t>
            </a:r>
          </a:p>
          <a:p>
            <a:pPr>
              <a:spcAft>
                <a:spcPts val="1000"/>
              </a:spcAft>
            </a:pPr>
            <a:r>
              <a:rPr sz="1300" b="0">
                <a:solidFill>
                  <a:srgbClr val="5B6372"/>
                </a:solidFill>
                <a:latin typeface="Arial"/>
              </a:rPr>
              <a:t>–  Rational</a:t>
            </a:r>
          </a:p>
          <a:p>
            <a:pPr>
              <a:spcAft>
                <a:spcPts val="1000"/>
              </a:spcAft>
            </a:pPr>
            <a:r>
              <a:rPr sz="1300" b="0">
                <a:solidFill>
                  <a:srgbClr val="5B6372"/>
                </a:solidFill>
                <a:latin typeface="Arial"/>
              </a:rPr>
              <a:t>–  Objective</a:t>
            </a:r>
          </a:p>
          <a:p>
            <a:pPr>
              <a:spcAft>
                <a:spcPts val="1000"/>
              </a:spcAft>
            </a:pPr>
            <a:r>
              <a:rPr sz="1300" b="0">
                <a:solidFill>
                  <a:srgbClr val="5B6372"/>
                </a:solidFill>
                <a:latin typeface="Arial"/>
              </a:rPr>
              <a:t>–  Present &amp; past</a:t>
            </a:r>
          </a:p>
          <a:p>
            <a:pPr>
              <a:spcAft>
                <a:spcPts val="1000"/>
              </a:spcAft>
            </a:pPr>
            <a:r>
              <a:rPr sz="1300" b="0">
                <a:solidFill>
                  <a:srgbClr val="5B6372"/>
                </a:solidFill>
                <a:latin typeface="Arial"/>
              </a:rPr>
              <a:t>–  Facts</a:t>
            </a:r>
          </a:p>
          <a:p>
            <a:pPr>
              <a:spcAft>
                <a:spcPts val="1000"/>
              </a:spcAft>
            </a:pPr>
            <a:r>
              <a:rPr sz="1300" b="0">
                <a:solidFill>
                  <a:srgbClr val="5B6372"/>
                </a:solidFill>
                <a:latin typeface="Arial"/>
              </a:rPr>
              <a:t>–  Order and pattern</a:t>
            </a:r>
          </a:p>
          <a:p>
            <a:pPr>
              <a:spcAft>
                <a:spcPts val="1000"/>
              </a:spcAft>
            </a:pPr>
            <a:r>
              <a:rPr sz="1300" b="0">
                <a:solidFill>
                  <a:srgbClr val="5B6372"/>
                </a:solidFill>
                <a:latin typeface="Arial"/>
              </a:rPr>
              <a:t>–  Planned</a:t>
            </a:r>
          </a:p>
        </p:txBody>
      </p:sp>
      <p:sp>
        <p:nvSpPr>
          <p:cNvPr id="14" name="TextBox 13"/>
          <p:cNvSpPr txBox="1"/>
          <p:nvPr/>
        </p:nvSpPr>
        <p:spPr>
          <a:xfrm>
            <a:off x="6583680" y="2514600"/>
            <a:ext cx="4617720" cy="3383280"/>
          </a:xfrm>
          <a:prstGeom prst="rect">
            <a:avLst/>
          </a:prstGeom>
          <a:noFill/>
        </p:spPr>
        <p:txBody>
          <a:bodyPr wrap="square">
            <a:spAutoFit/>
          </a:bodyPr>
          <a:lstStyle/>
          <a:p>
            <a:pPr>
              <a:spcAft>
                <a:spcPts val="1000"/>
              </a:spcAft>
            </a:pPr>
            <a:r>
              <a:rPr sz="1500" b="0">
                <a:solidFill>
                  <a:srgbClr val="161B26"/>
                </a:solidFill>
                <a:latin typeface="Arial"/>
              </a:rPr>
              <a:t>•  Right brain</a:t>
            </a:r>
          </a:p>
          <a:p>
            <a:pPr>
              <a:spcAft>
                <a:spcPts val="1000"/>
              </a:spcAft>
            </a:pPr>
            <a:r>
              <a:rPr sz="1300" b="0">
                <a:solidFill>
                  <a:srgbClr val="5B6372"/>
                </a:solidFill>
                <a:latin typeface="Arial"/>
              </a:rPr>
              <a:t>–  Creative</a:t>
            </a:r>
          </a:p>
          <a:p>
            <a:pPr>
              <a:spcAft>
                <a:spcPts val="1000"/>
              </a:spcAft>
            </a:pPr>
            <a:r>
              <a:rPr sz="1300" b="0">
                <a:solidFill>
                  <a:srgbClr val="5B6372"/>
                </a:solidFill>
                <a:latin typeface="Arial"/>
              </a:rPr>
              <a:t>–  Holistic</a:t>
            </a:r>
          </a:p>
          <a:p>
            <a:pPr>
              <a:spcAft>
                <a:spcPts val="1000"/>
              </a:spcAft>
            </a:pPr>
            <a:r>
              <a:rPr sz="1300" b="0">
                <a:solidFill>
                  <a:srgbClr val="5B6372"/>
                </a:solidFill>
                <a:latin typeface="Arial"/>
              </a:rPr>
              <a:t>–  Subjective</a:t>
            </a:r>
          </a:p>
          <a:p>
            <a:pPr>
              <a:spcAft>
                <a:spcPts val="1000"/>
              </a:spcAft>
            </a:pPr>
            <a:r>
              <a:rPr sz="1300" b="0">
                <a:solidFill>
                  <a:srgbClr val="5B6372"/>
                </a:solidFill>
                <a:latin typeface="Arial"/>
              </a:rPr>
              <a:t>–  Present &amp; future</a:t>
            </a:r>
          </a:p>
          <a:p>
            <a:pPr>
              <a:spcAft>
                <a:spcPts val="1000"/>
              </a:spcAft>
            </a:pPr>
            <a:r>
              <a:rPr sz="1300" b="0">
                <a:solidFill>
                  <a:srgbClr val="5B6372"/>
                </a:solidFill>
                <a:latin typeface="Arial"/>
              </a:rPr>
              <a:t>–  Feelings</a:t>
            </a:r>
          </a:p>
          <a:p>
            <a:pPr>
              <a:spcAft>
                <a:spcPts val="1000"/>
              </a:spcAft>
            </a:pPr>
            <a:r>
              <a:rPr sz="1300" b="0">
                <a:solidFill>
                  <a:srgbClr val="5B6372"/>
                </a:solidFill>
                <a:latin typeface="Arial"/>
              </a:rPr>
              <a:t>–  Spatial</a:t>
            </a:r>
          </a:p>
          <a:p>
            <a:pPr>
              <a:spcAft>
                <a:spcPts val="1000"/>
              </a:spcAft>
            </a:pPr>
            <a:r>
              <a:rPr sz="1300" b="0">
                <a:solidFill>
                  <a:srgbClr val="5B6372"/>
                </a:solidFill>
                <a:latin typeface="Arial"/>
              </a:rPr>
              <a:t>–  Spontaneous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SHIFT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Mindset — Traditional vs Design Thinker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Business-centric</a:t>
            </a:r>
          </a:p>
        </p:txBody>
      </p:sp>
      <p:sp>
        <p:nvSpPr>
          <p:cNvPr id="12" name="TextBox 11"/>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Customer-centric</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b="0">
                <a:solidFill>
                  <a:srgbClr val="161B26"/>
                </a:solidFill>
                <a:latin typeface="Arial"/>
              </a:rPr>
              <a:t>•  Traditional thinker</a:t>
            </a:r>
          </a:p>
          <a:p>
            <a:pPr>
              <a:spcAft>
                <a:spcPts val="1000"/>
              </a:spcAft>
            </a:pPr>
            <a:r>
              <a:rPr sz="1300" b="0">
                <a:solidFill>
                  <a:srgbClr val="5B6372"/>
                </a:solidFill>
                <a:latin typeface="Arial"/>
              </a:rPr>
              <a:t>–  "We have this problem — let's get in a room and brainstorm solutions."</a:t>
            </a:r>
          </a:p>
          <a:p>
            <a:pPr>
              <a:spcAft>
                <a:spcPts val="1000"/>
              </a:spcAft>
            </a:pPr>
            <a:r>
              <a:rPr sz="1300" b="0">
                <a:solidFill>
                  <a:srgbClr val="5B6372"/>
                </a:solidFill>
                <a:latin typeface="Arial"/>
              </a:rPr>
              <a:t>–  "Our competitors just launched X; how can we do X quickly?"</a:t>
            </a:r>
          </a:p>
          <a:p>
            <a:pPr>
              <a:spcAft>
                <a:spcPts val="1000"/>
              </a:spcAft>
            </a:pPr>
            <a:r>
              <a:rPr sz="1300" b="0">
                <a:solidFill>
                  <a:srgbClr val="5B6372"/>
                </a:solidFill>
                <a:latin typeface="Arial"/>
              </a:rPr>
              <a:t>–  "We have this technology — what can we use it for?"</a:t>
            </a:r>
          </a:p>
          <a:p>
            <a:pPr>
              <a:spcAft>
                <a:spcPts val="1000"/>
              </a:spcAft>
            </a:pPr>
            <a:r>
              <a:rPr sz="1300" b="0">
                <a:solidFill>
                  <a:srgbClr val="5B6372"/>
                </a:solidFill>
                <a:latin typeface="Arial"/>
              </a:rPr>
              <a:t>–  Starts from the business or the technology</a:t>
            </a:r>
          </a:p>
        </p:txBody>
      </p:sp>
      <p:sp>
        <p:nvSpPr>
          <p:cNvPr id="14" name="TextBox 13"/>
          <p:cNvSpPr txBox="1"/>
          <p:nvPr/>
        </p:nvSpPr>
        <p:spPr>
          <a:xfrm>
            <a:off x="6583680" y="2514600"/>
            <a:ext cx="4617720" cy="3383280"/>
          </a:xfrm>
          <a:prstGeom prst="rect">
            <a:avLst/>
          </a:prstGeom>
          <a:noFill/>
        </p:spPr>
        <p:txBody>
          <a:bodyPr wrap="square">
            <a:spAutoFit/>
          </a:bodyPr>
          <a:lstStyle/>
          <a:p>
            <a:pPr>
              <a:spcAft>
                <a:spcPts val="1000"/>
              </a:spcAft>
            </a:pPr>
            <a:r>
              <a:rPr sz="1500" b="0">
                <a:solidFill>
                  <a:srgbClr val="161B26"/>
                </a:solidFill>
                <a:latin typeface="Arial"/>
              </a:rPr>
              <a:t>•  Design thinker</a:t>
            </a:r>
          </a:p>
          <a:p>
            <a:pPr>
              <a:spcAft>
                <a:spcPts val="1000"/>
              </a:spcAft>
            </a:pPr>
            <a:r>
              <a:rPr sz="1300" b="0">
                <a:solidFill>
                  <a:srgbClr val="5B6372"/>
                </a:solidFill>
                <a:latin typeface="Arial"/>
              </a:rPr>
              <a:t>–  Think users first</a:t>
            </a:r>
          </a:p>
          <a:p>
            <a:pPr>
              <a:spcAft>
                <a:spcPts val="1000"/>
              </a:spcAft>
            </a:pPr>
            <a:r>
              <a:rPr sz="1300" b="0">
                <a:solidFill>
                  <a:srgbClr val="5B6372"/>
                </a:solidFill>
                <a:latin typeface="Arial"/>
              </a:rPr>
              <a:t>–  Ask the right questions</a:t>
            </a:r>
          </a:p>
          <a:p>
            <a:pPr>
              <a:spcAft>
                <a:spcPts val="1000"/>
              </a:spcAft>
            </a:pPr>
            <a:r>
              <a:rPr sz="1300" b="0">
                <a:solidFill>
                  <a:srgbClr val="5B6372"/>
                </a:solidFill>
                <a:latin typeface="Arial"/>
              </a:rPr>
              <a:t>–  Believe you can sketch</a:t>
            </a:r>
          </a:p>
          <a:p>
            <a:pPr>
              <a:spcAft>
                <a:spcPts val="1000"/>
              </a:spcAft>
            </a:pPr>
            <a:r>
              <a:rPr sz="1300" b="0">
                <a:solidFill>
                  <a:srgbClr val="5B6372"/>
                </a:solidFill>
                <a:latin typeface="Arial"/>
              </a:rPr>
              <a:t>–  Commit to explore</a:t>
            </a:r>
          </a:p>
          <a:p>
            <a:pPr>
              <a:spcAft>
                <a:spcPts val="1000"/>
              </a:spcAft>
            </a:pPr>
            <a:r>
              <a:rPr sz="1300" b="0">
                <a:solidFill>
                  <a:srgbClr val="5B6372"/>
                </a:solidFill>
                <a:latin typeface="Arial"/>
              </a:rPr>
              <a:t>–  Prototype to test and evaluate</a:t>
            </a:r>
          </a:p>
          <a:p>
            <a:pPr>
              <a:spcAft>
                <a:spcPts val="1000"/>
              </a:spcAft>
            </a:pPr>
            <a:r>
              <a:rPr sz="1300" b="0">
                <a:solidFill>
                  <a:srgbClr val="5B6372"/>
                </a:solidFill>
                <a:latin typeface="Arial"/>
              </a:rPr>
              <a:t>–  Starts from the human being served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MINDSET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Design thinking is a growth mindset.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Talent and ability are a starting point, not a ceiling — the same belief that lets a team keep iterating instead of defending its first idea.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THREE LENSES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Design Thinking for the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959352" y="2125065"/>
            <a:ext cx="2596896" cy="2596896"/>
          </a:xfrm>
          <a:prstGeom prst="ellipse">
            <a:avLst/>
          </a:prstGeom>
          <a:noFill/>
          <a:ln w="317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41848" y="2125065"/>
            <a:ext cx="2596896" cy="2596896"/>
          </a:xfrm>
          <a:prstGeom prst="ellipse">
            <a:avLst/>
          </a:prstGeom>
          <a:noFill/>
          <a:ln w="317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800600" y="3386937"/>
            <a:ext cx="2596896" cy="2596896"/>
          </a:xfrm>
          <a:prstGeom prst="ellipse">
            <a:avLst/>
          </a:prstGeom>
          <a:noFill/>
          <a:ln w="317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84648" y="3661257"/>
            <a:ext cx="1828800" cy="411480"/>
          </a:xfrm>
          <a:prstGeom prst="rect">
            <a:avLst/>
          </a:prstGeom>
          <a:noFill/>
        </p:spPr>
        <p:txBody>
          <a:bodyPr wrap="square" anchor="ctr">
            <a:spAutoFit/>
          </a:bodyPr>
          <a:lstStyle/>
          <a:p>
            <a:pPr algn="ctr">
              <a:spcAft>
                <a:spcPts val="400"/>
              </a:spcAft>
            </a:pPr>
            <a:r>
              <a:rPr sz="1500" b="1">
                <a:solidFill>
                  <a:srgbClr val="161B26"/>
                </a:solidFill>
                <a:latin typeface="Arial"/>
              </a:rPr>
              <a:t>INNOVATION</a:t>
            </a:r>
          </a:p>
        </p:txBody>
      </p:sp>
      <p:sp>
        <p:nvSpPr>
          <p:cNvPr id="11" name="Rectangle 10"/>
          <p:cNvSpPr/>
          <p:nvPr/>
        </p:nvSpPr>
        <p:spPr>
          <a:xfrm>
            <a:off x="777240" y="1874519"/>
            <a:ext cx="2926080" cy="1188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1874519"/>
            <a:ext cx="91440" cy="1188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1874519"/>
            <a:ext cx="2560320" cy="1188720"/>
          </a:xfrm>
          <a:prstGeom prst="rect">
            <a:avLst/>
          </a:prstGeom>
          <a:noFill/>
        </p:spPr>
        <p:txBody>
          <a:bodyPr wrap="square" anchor="ctr">
            <a:spAutoFit/>
          </a:bodyPr>
          <a:lstStyle/>
          <a:p>
            <a:pPr algn="l">
              <a:spcAft>
                <a:spcPts val="300"/>
              </a:spcAft>
            </a:pPr>
            <a:r>
              <a:rPr sz="1500" b="1">
                <a:solidFill>
                  <a:srgbClr val="1F6FEB"/>
                </a:solidFill>
                <a:latin typeface="Arial"/>
              </a:rPr>
              <a:t>DESIRABILITY</a:t>
            </a:r>
          </a:p>
          <a:p>
            <a:pPr algn="l">
              <a:spcAft>
                <a:spcPts val="300"/>
              </a:spcAft>
            </a:pPr>
            <a:r>
              <a:rPr sz="1150" b="0">
                <a:solidFill>
                  <a:srgbClr val="5B6372"/>
                </a:solidFill>
                <a:latin typeface="Arial"/>
              </a:rPr>
              <a:t>Do our customers want it?</a:t>
            </a:r>
          </a:p>
        </p:txBody>
      </p:sp>
      <p:sp>
        <p:nvSpPr>
          <p:cNvPr id="14" name="Rectangle 13"/>
          <p:cNvSpPr/>
          <p:nvPr/>
        </p:nvSpPr>
        <p:spPr>
          <a:xfrm>
            <a:off x="777240" y="3355847"/>
            <a:ext cx="2926080" cy="1188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355847"/>
            <a:ext cx="91440" cy="1188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3355847"/>
            <a:ext cx="2560320" cy="1188720"/>
          </a:xfrm>
          <a:prstGeom prst="rect">
            <a:avLst/>
          </a:prstGeom>
          <a:noFill/>
        </p:spPr>
        <p:txBody>
          <a:bodyPr wrap="square" anchor="ctr">
            <a:spAutoFit/>
          </a:bodyPr>
          <a:lstStyle/>
          <a:p>
            <a:pPr algn="l">
              <a:spcAft>
                <a:spcPts val="300"/>
              </a:spcAft>
            </a:pPr>
            <a:r>
              <a:rPr sz="1500" b="1">
                <a:solidFill>
                  <a:srgbClr val="10B981"/>
                </a:solidFill>
                <a:latin typeface="Arial"/>
              </a:rPr>
              <a:t>VIABILITY</a:t>
            </a:r>
          </a:p>
          <a:p>
            <a:pPr algn="l">
              <a:spcAft>
                <a:spcPts val="300"/>
              </a:spcAft>
            </a:pPr>
            <a:r>
              <a:rPr sz="1150" b="0">
                <a:solidFill>
                  <a:srgbClr val="5B6372"/>
                </a:solidFill>
                <a:latin typeface="Arial"/>
              </a:rPr>
              <a:t>Does it work for the business?</a:t>
            </a:r>
          </a:p>
        </p:txBody>
      </p:sp>
      <p:sp>
        <p:nvSpPr>
          <p:cNvPr id="17" name="Rectangle 16"/>
          <p:cNvSpPr/>
          <p:nvPr/>
        </p:nvSpPr>
        <p:spPr>
          <a:xfrm>
            <a:off x="777240" y="4837175"/>
            <a:ext cx="2926080" cy="11887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37175"/>
            <a:ext cx="91440" cy="1188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4837175"/>
            <a:ext cx="2560320" cy="1188720"/>
          </a:xfrm>
          <a:prstGeom prst="rect">
            <a:avLst/>
          </a:prstGeom>
          <a:noFill/>
        </p:spPr>
        <p:txBody>
          <a:bodyPr wrap="square" anchor="ctr">
            <a:spAutoFit/>
          </a:bodyPr>
          <a:lstStyle/>
          <a:p>
            <a:pPr algn="l">
              <a:spcAft>
                <a:spcPts val="300"/>
              </a:spcAft>
            </a:pPr>
            <a:r>
              <a:rPr sz="1500" b="1">
                <a:solidFill>
                  <a:srgbClr val="F59E0B"/>
                </a:solidFill>
                <a:latin typeface="Arial"/>
              </a:rPr>
              <a:t>FEASIBILITY</a:t>
            </a:r>
          </a:p>
          <a:p>
            <a:pPr algn="l">
              <a:spcAft>
                <a:spcPts val="300"/>
              </a:spcAft>
            </a:pPr>
            <a:r>
              <a:rPr sz="1150" b="0">
                <a:solidFill>
                  <a:srgbClr val="5B6372"/>
                </a:solidFill>
                <a:latin typeface="Arial"/>
              </a:rPr>
              <a:t>Can technology deliver it?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Design a Vase — Reframing the 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two-round warm-up that shows the difference between designing an object and designing an experience. In round 1 you design a vase. In round 2 you re-design against a human-centred brief and compare how much wider the solution space becomes.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You'll produce</a:t>
            </a:r>
          </a:p>
        </p:txBody>
      </p:sp>
      <p:sp>
        <p:nvSpPr>
          <p:cNvPr id="13" name="TextBox 12"/>
          <p:cNvSpPr txBox="1"/>
          <p:nvPr/>
        </p:nvSpPr>
        <p:spPr>
          <a:xfrm>
            <a:off x="1005840" y="4498848"/>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Two sketched concepts and a written reflection on how the framing of a brief drives creativity.</a:t>
            </a:r>
          </a:p>
        </p:txBody>
      </p:sp>
      <p:sp>
        <p:nvSpPr>
          <p:cNvPr id="14" name="TextBox 13"/>
          <p:cNvSpPr txBox="1"/>
          <p:nvPr/>
        </p:nvSpPr>
        <p:spPr>
          <a:xfrm>
            <a:off x="1005840" y="5138928"/>
            <a:ext cx="10241280" cy="548640"/>
          </a:xfrm>
          <a:prstGeom prst="rect">
            <a:avLst/>
          </a:prstGeom>
          <a:noFill/>
        </p:spPr>
        <p:txBody>
          <a:bodyPr wrap="square" anchor="t">
            <a:spAutoFit/>
          </a:bodyPr>
          <a:lstStyle/>
          <a:p>
            <a:pPr algn="l">
              <a:spcAft>
                <a:spcPts val="400"/>
              </a:spcAft>
            </a:pPr>
            <a:r>
              <a:rPr sz="1200" b="1">
                <a:solidFill>
                  <a:srgbClr val="5B6372"/>
                </a:solidFill>
                <a:latin typeface="Arial"/>
              </a:rPr>
              <a:t>Ed-tools:  </a:t>
            </a:r>
            <a:r>
              <a:rPr sz="1200" b="0">
                <a:solidFill>
                  <a:srgbClr val="5B6372"/>
                </a:solidFill>
                <a:latin typeface="Arial"/>
              </a:rPr>
              <a:t>Design Thinking Toolkit (alfredang.github.io/designthinking), draw.chat, Padlet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CHECK YOUR WORK</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Design a Vase — Reframing the Brief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You're done when…</a:t>
            </a:r>
          </a:p>
        </p:txBody>
      </p:sp>
      <p:sp>
        <p:nvSpPr>
          <p:cNvPr id="10" name="TextBox 9"/>
          <p:cNvSpPr txBox="1"/>
          <p:nvPr/>
        </p:nvSpPr>
        <p:spPr>
          <a:xfrm>
            <a:off x="1097280" y="3063240"/>
            <a:ext cx="10058400" cy="1280160"/>
          </a:xfrm>
          <a:prstGeom prst="rect">
            <a:avLst/>
          </a:prstGeom>
          <a:noFill/>
        </p:spPr>
        <p:txBody>
          <a:bodyPr wrap="square" anchor="t">
            <a:spAutoFit/>
          </a:bodyPr>
          <a:lstStyle/>
          <a:p>
            <a:pPr algn="l">
              <a:spcAft>
                <a:spcPts val="400"/>
              </a:spcAft>
            </a:pPr>
            <a:r>
              <a:rPr sz="1700" b="0">
                <a:solidFill>
                  <a:srgbClr val="161B26"/>
                </a:solidFill>
                <a:latin typeface="Arial"/>
              </a:rPr>
              <a:t>You have two visibly different concepts on your board, and you can state in one sentence why the second brief produced a wider range of ideas than the first.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500" b="1">
                <a:solidFill>
                  <a:srgbClr val="161B26"/>
                </a:solidFill>
                <a:latin typeface="Arial"/>
              </a:rPr>
              <a:t>Design Thinking Readiness — Mindset &amp; Culture Self-Assessment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Benchmark your own team against the traits of a design thinker and the three lenses of organisational design thinking — desirability, viability and feasibility — then identify the single biggest barrier to embedding design thinking where you work.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You'll produce</a:t>
            </a:r>
          </a:p>
        </p:txBody>
      </p:sp>
      <p:sp>
        <p:nvSpPr>
          <p:cNvPr id="13" name="TextBox 12"/>
          <p:cNvSpPr txBox="1"/>
          <p:nvPr/>
        </p:nvSpPr>
        <p:spPr>
          <a:xfrm>
            <a:off x="1005840" y="4498848"/>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completed readiness scorecard with a prioritised list of cultural barriers and first actions.</a:t>
            </a:r>
          </a:p>
        </p:txBody>
      </p:sp>
      <p:sp>
        <p:nvSpPr>
          <p:cNvPr id="14" name="TextBox 13"/>
          <p:cNvSpPr txBox="1"/>
          <p:nvPr/>
        </p:nvSpPr>
        <p:spPr>
          <a:xfrm>
            <a:off x="1005840" y="5138928"/>
            <a:ext cx="10241280" cy="548640"/>
          </a:xfrm>
          <a:prstGeom prst="rect">
            <a:avLst/>
          </a:prstGeom>
          <a:noFill/>
        </p:spPr>
        <p:txBody>
          <a:bodyPr wrap="square" anchor="t">
            <a:spAutoFit/>
          </a:bodyPr>
          <a:lstStyle/>
          <a:p>
            <a:pPr algn="l">
              <a:spcAft>
                <a:spcPts val="400"/>
              </a:spcAft>
            </a:pPr>
            <a:r>
              <a:rPr sz="1200" b="1">
                <a:solidFill>
                  <a:srgbClr val="5B6372"/>
                </a:solidFill>
                <a:latin typeface="Arial"/>
              </a:rPr>
              <a:t>Ed-tools:  </a:t>
            </a:r>
            <a:r>
              <a:rPr sz="1200" b="0">
                <a:solidFill>
                  <a:srgbClr val="5B6372"/>
                </a:solidFill>
                <a:latin typeface="Arial"/>
              </a:rPr>
              <a:t>Design Thinking Toolkit (alfredang.github.io/designthinking), Digital Transformation Canvas (alfredang.github.io/digitaltransformation)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CHECK YOUR WORK</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500" b="1">
                <a:solidFill>
                  <a:srgbClr val="161B26"/>
                </a:solidFill>
                <a:latin typeface="Arial"/>
              </a:rPr>
              <a:t>Design Thinking Readiness — Mindset &amp; Culture Self-Assessment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You're done when…</a:t>
            </a:r>
          </a:p>
        </p:txBody>
      </p:sp>
      <p:sp>
        <p:nvSpPr>
          <p:cNvPr id="10" name="TextBox 9"/>
          <p:cNvSpPr txBox="1"/>
          <p:nvPr/>
        </p:nvSpPr>
        <p:spPr>
          <a:xfrm>
            <a:off x="1097280" y="3063240"/>
            <a:ext cx="10058400" cy="1280160"/>
          </a:xfrm>
          <a:prstGeom prst="rect">
            <a:avLst/>
          </a:prstGeom>
          <a:noFill/>
        </p:spPr>
        <p:txBody>
          <a:bodyPr wrap="square" anchor="t">
            <a:spAutoFit/>
          </a:bodyPr>
          <a:lstStyle/>
          <a:p>
            <a:pPr algn="l">
              <a:spcAft>
                <a:spcPts val="400"/>
              </a:spcAft>
            </a:pPr>
            <a:r>
              <a:rPr sz="1700" b="0">
                <a:solidFill>
                  <a:srgbClr val="161B26"/>
                </a:solidFill>
                <a:latin typeface="Arial"/>
              </a:rPr>
              <a:t>Your scorecard is complete across all three lenses, and you have named one barrier and one specific, time-bound action to address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Recap — Key Concepts &amp; Principles of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experience how a narrowly framed brief limits creativity, and how reframing around the user unlocks it</a:t>
            </a:r>
          </a:p>
          <a:p>
            <a:pPr>
              <a:spcAft>
                <a:spcPts val="1000"/>
              </a:spcAft>
            </a:pPr>
            <a:r>
              <a:rPr sz="1700" b="0">
                <a:solidFill>
                  <a:srgbClr val="161B26"/>
                </a:solidFill>
                <a:latin typeface="Arial"/>
              </a:rPr>
              <a:t>•  You can now: assess your organisation's design-thinking mindset and identify what must change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Applications of Design Thinking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Use cases across industries · Uncovering opportunities for applying design thinking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MAPPED: A2, K5</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Key Concepts — Applications of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Airbnb</a:t>
            </a:r>
          </a:p>
          <a:p>
            <a:pPr algn="l">
              <a:spcAft>
                <a:spcPts val="300"/>
              </a:spcAft>
            </a:pPr>
            <a:r>
              <a:rPr sz="1100" b="0">
                <a:solidFill>
                  <a:srgbClr val="5B6372"/>
                </a:solidFill>
                <a:latin typeface="Arial"/>
              </a:rPr>
              <a:t>Built a culture of experimentation and design-led iteration to move from failing start-up to a billion-dollar business.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IBM</a:t>
            </a:r>
          </a:p>
          <a:p>
            <a:pPr algn="l">
              <a:spcAft>
                <a:spcPts val="300"/>
              </a:spcAft>
            </a:pPr>
            <a:r>
              <a:rPr sz="1100" b="0">
                <a:solidFill>
                  <a:srgbClr val="5B6372"/>
                </a:solidFill>
                <a:latin typeface="Arial"/>
              </a:rPr>
              <a:t>Applies design thinking at scale to complex teams, problems and organisations through IBM Design Thinking.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Bank of America</a:t>
            </a:r>
          </a:p>
          <a:p>
            <a:pPr algn="l">
              <a:spcAft>
                <a:spcPts val="300"/>
              </a:spcAft>
            </a:pPr>
            <a:r>
              <a:rPr sz="1100" b="0">
                <a:solidFill>
                  <a:srgbClr val="5B6372"/>
                </a:solidFill>
                <a:latin typeface="Arial"/>
              </a:rPr>
              <a:t>Partnered with IDEO to research real savers, producing the 'Keep the Change' account.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Uber Eats</a:t>
            </a:r>
          </a:p>
          <a:p>
            <a:pPr algn="l">
              <a:spcAft>
                <a:spcPts val="300"/>
              </a:spcAft>
            </a:pPr>
            <a:r>
              <a:rPr sz="1100" b="0">
                <a:solidFill>
                  <a:srgbClr val="5B6372"/>
                </a:solidFill>
                <a:latin typeface="Arial"/>
              </a:rPr>
              <a:t>Designs its food-delivery service around observed customer, courier and restaurant journeys.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Healthcare</a:t>
            </a:r>
          </a:p>
          <a:p>
            <a:pPr algn="l">
              <a:spcAft>
                <a:spcPts val="300"/>
              </a:spcAft>
            </a:pPr>
            <a:r>
              <a:rPr sz="1100" b="0">
                <a:solidFill>
                  <a:srgbClr val="5B6372"/>
                </a:solidFill>
                <a:latin typeface="Arial"/>
              </a:rPr>
              <a:t>Stanford's Hasso Plattner Institute of Design redesigned the emergency-room patient experience.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Public &amp; social sector</a:t>
            </a:r>
          </a:p>
          <a:p>
            <a:pPr algn="l">
              <a:spcAft>
                <a:spcPts val="300"/>
              </a:spcAft>
            </a:pPr>
            <a:r>
              <a:rPr sz="1100" b="0">
                <a:solidFill>
                  <a:srgbClr val="5B6372"/>
                </a:solidFill>
                <a:latin typeface="Arial"/>
              </a:rPr>
              <a:t>Clean Team (Ghana in-home toilets), Golden Gate Regional Center and The Good Kitchen redesigned public services.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CORPORATE USE CASES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Design Thinking in Business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900" b="1">
                <a:solidFill>
                  <a:srgbClr val="1F6FEB"/>
                </a:solidFill>
                <a:latin typeface="Arial"/>
              </a:rPr>
              <a:t>Airbnb</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400" b="0">
                <a:solidFill>
                  <a:srgbClr val="161B26"/>
                </a:solidFill>
                <a:latin typeface="Arial"/>
              </a:rPr>
              <a:t>•  Culture of experimentation</a:t>
            </a:r>
          </a:p>
          <a:p>
            <a:pPr>
              <a:spcAft>
                <a:spcPts val="900"/>
              </a:spcAft>
            </a:pPr>
            <a:r>
              <a:rPr sz="1400" b="0">
                <a:solidFill>
                  <a:srgbClr val="161B26"/>
                </a:solidFill>
                <a:latin typeface="Arial"/>
              </a:rPr>
              <a:t>•  Design-led iteration</a:t>
            </a:r>
          </a:p>
          <a:p>
            <a:pPr>
              <a:spcAft>
                <a:spcPts val="900"/>
              </a:spcAft>
            </a:pPr>
            <a:r>
              <a:rPr sz="1400" b="0">
                <a:solidFill>
                  <a:srgbClr val="161B26"/>
                </a:solidFill>
                <a:latin typeface="Arial"/>
              </a:rPr>
              <a:t>•  Failing start-up → billion-dollar business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900" b="1">
                <a:solidFill>
                  <a:srgbClr val="10B981"/>
                </a:solidFill>
                <a:latin typeface="Arial"/>
              </a:rPr>
              <a:t>IBM</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400" b="0">
                <a:solidFill>
                  <a:srgbClr val="161B26"/>
                </a:solidFill>
                <a:latin typeface="Arial"/>
              </a:rPr>
              <a:t>•  IBM Design Thinking at scale</a:t>
            </a:r>
          </a:p>
          <a:p>
            <a:pPr>
              <a:spcAft>
                <a:spcPts val="900"/>
              </a:spcAft>
            </a:pPr>
            <a:r>
              <a:rPr sz="1400" b="0">
                <a:solidFill>
                  <a:srgbClr val="161B26"/>
                </a:solidFill>
                <a:latin typeface="Arial"/>
              </a:rPr>
              <a:t>•  Complex teams and organisations</a:t>
            </a:r>
          </a:p>
          <a:p>
            <a:pPr>
              <a:spcAft>
                <a:spcPts val="900"/>
              </a:spcAft>
            </a:pPr>
            <a:r>
              <a:rPr sz="1400" b="0">
                <a:solidFill>
                  <a:srgbClr val="161B26"/>
                </a:solidFill>
                <a:latin typeface="Arial"/>
              </a:rPr>
              <a:t>•  Restructured how products are built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900" b="1">
                <a:solidFill>
                  <a:srgbClr val="7C3AED"/>
                </a:solidFill>
                <a:latin typeface="Arial"/>
              </a:rPr>
              <a:t>Bank of America</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400" b="0">
                <a:solidFill>
                  <a:srgbClr val="161B26"/>
                </a:solidFill>
                <a:latin typeface="Arial"/>
              </a:rPr>
              <a:t>•  Partnered with IDEO</a:t>
            </a:r>
          </a:p>
          <a:p>
            <a:pPr>
              <a:spcAft>
                <a:spcPts val="900"/>
              </a:spcAft>
            </a:pPr>
            <a:r>
              <a:rPr sz="1400" b="0">
                <a:solidFill>
                  <a:srgbClr val="161B26"/>
                </a:solidFill>
                <a:latin typeface="Arial"/>
              </a:rPr>
              <a:t>•  Researched real savers</a:t>
            </a:r>
          </a:p>
          <a:p>
            <a:pPr>
              <a:spcAft>
                <a:spcPts val="900"/>
              </a:spcAft>
            </a:pPr>
            <a:r>
              <a:rPr sz="1400" b="0">
                <a:solidFill>
                  <a:srgbClr val="161B26"/>
                </a:solidFill>
                <a:latin typeface="Arial"/>
              </a:rPr>
              <a:t>•  'Keep the Change' account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SERVICE &amp; PUBLIC SECTOR USE CASES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Design Thinking in Services &amp; Society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900" b="1">
                <a:solidFill>
                  <a:srgbClr val="1F6FEB"/>
                </a:solidFill>
                <a:latin typeface="Arial"/>
              </a:rPr>
              <a:t>Uber Eats</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400" b="0">
                <a:solidFill>
                  <a:srgbClr val="161B26"/>
                </a:solidFill>
                <a:latin typeface="Arial"/>
              </a:rPr>
              <a:t>•  Designs around observed journeys</a:t>
            </a:r>
          </a:p>
          <a:p>
            <a:pPr>
              <a:spcAft>
                <a:spcPts val="900"/>
              </a:spcAft>
            </a:pPr>
            <a:r>
              <a:rPr sz="1400" b="0">
                <a:solidFill>
                  <a:srgbClr val="161B26"/>
                </a:solidFill>
                <a:latin typeface="Arial"/>
              </a:rPr>
              <a:t>•  Customer, courier and restaurant</a:t>
            </a:r>
          </a:p>
          <a:p>
            <a:pPr>
              <a:spcAft>
                <a:spcPts val="900"/>
              </a:spcAft>
            </a:pPr>
            <a:r>
              <a:rPr sz="1400" b="0">
                <a:solidFill>
                  <a:srgbClr val="161B26"/>
                </a:solidFill>
                <a:latin typeface="Arial"/>
              </a:rPr>
              <a:t>•  Continuous field research</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900" b="1">
                <a:solidFill>
                  <a:srgbClr val="10B981"/>
                </a:solidFill>
                <a:latin typeface="Arial"/>
              </a:rPr>
              <a:t>Healthcare</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400" b="0">
                <a:solidFill>
                  <a:srgbClr val="161B26"/>
                </a:solidFill>
                <a:latin typeface="Arial"/>
              </a:rPr>
              <a:t>•  Stanford Hasso Plattner Institute</a:t>
            </a:r>
          </a:p>
          <a:p>
            <a:pPr>
              <a:spcAft>
                <a:spcPts val="900"/>
              </a:spcAft>
            </a:pPr>
            <a:r>
              <a:rPr sz="1400" b="0">
                <a:solidFill>
                  <a:srgbClr val="161B26"/>
                </a:solidFill>
                <a:latin typeface="Arial"/>
              </a:rPr>
              <a:t>•  Redesigned the ER experience</a:t>
            </a:r>
          </a:p>
          <a:p>
            <a:pPr>
              <a:spcAft>
                <a:spcPts val="900"/>
              </a:spcAft>
            </a:pPr>
            <a:r>
              <a:rPr sz="1400" b="0">
                <a:solidFill>
                  <a:srgbClr val="161B26"/>
                </a:solidFill>
                <a:latin typeface="Arial"/>
              </a:rPr>
              <a:t>•  Reduced patient anxiety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900" b="1">
                <a:solidFill>
                  <a:srgbClr val="7C3AED"/>
                </a:solidFill>
                <a:latin typeface="Arial"/>
              </a:rPr>
              <a:t>Public &amp; social</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400" b="0">
                <a:solidFill>
                  <a:srgbClr val="161B26"/>
                </a:solidFill>
                <a:latin typeface="Arial"/>
              </a:rPr>
              <a:t>•  Clean Team — in-home toilets, Ghana</a:t>
            </a:r>
          </a:p>
          <a:p>
            <a:pPr>
              <a:spcAft>
                <a:spcPts val="900"/>
              </a:spcAft>
            </a:pPr>
            <a:r>
              <a:rPr sz="1400" b="0">
                <a:solidFill>
                  <a:srgbClr val="161B26"/>
                </a:solidFill>
                <a:latin typeface="Arial"/>
              </a:rPr>
              <a:t>•  Golden Gate Regional Center</a:t>
            </a:r>
          </a:p>
          <a:p>
            <a:pPr>
              <a:spcAft>
                <a:spcPts val="900"/>
              </a:spcAft>
            </a:pPr>
            <a:r>
              <a:rPr sz="1400" b="0">
                <a:solidFill>
                  <a:srgbClr val="161B26"/>
                </a:solidFill>
                <a:latin typeface="Arial"/>
              </a:rPr>
              <a:t>•  The Good Kitchen, Denmark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WHERE TO START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Uncovering Opportunities in Your Organisation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Look for friction</a:t>
            </a:r>
          </a:p>
          <a:p>
            <a:pPr algn="l">
              <a:spcAft>
                <a:spcPts val="300"/>
              </a:spcAft>
            </a:pPr>
            <a:r>
              <a:rPr sz="1100" b="0">
                <a:solidFill>
                  <a:srgbClr val="5B6372"/>
                </a:solidFill>
                <a:latin typeface="Arial"/>
              </a:rPr>
              <a:t>Where do customers or staff visibly struggle, complain or work around the system?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Follow the complaints</a:t>
            </a:r>
          </a:p>
          <a:p>
            <a:pPr algn="l">
              <a:spcAft>
                <a:spcPts val="300"/>
              </a:spcAft>
            </a:pPr>
            <a:r>
              <a:rPr sz="1100" b="0">
                <a:solidFill>
                  <a:srgbClr val="5B6372"/>
                </a:solidFill>
                <a:latin typeface="Arial"/>
              </a:rPr>
              <a:t>Repeated complaints and support tickets are free user research.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Watch the workarounds</a:t>
            </a:r>
          </a:p>
          <a:p>
            <a:pPr algn="l">
              <a:spcAft>
                <a:spcPts val="300"/>
              </a:spcAft>
            </a:pPr>
            <a:r>
              <a:rPr sz="1100" b="0">
                <a:solidFill>
                  <a:srgbClr val="5B6372"/>
                </a:solidFill>
                <a:latin typeface="Arial"/>
              </a:rPr>
              <a:t>A workaround is a user telling you the design is wrong.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Find the drop-off</a:t>
            </a:r>
          </a:p>
          <a:p>
            <a:pPr algn="l">
              <a:spcAft>
                <a:spcPts val="300"/>
              </a:spcAft>
            </a:pPr>
            <a:r>
              <a:rPr sz="1100" b="0">
                <a:solidFill>
                  <a:srgbClr val="5B6372"/>
                </a:solidFill>
                <a:latin typeface="Arial"/>
              </a:rPr>
              <a:t>Where do people abandon the journey — and what happened just before?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Ask the frontline</a:t>
            </a:r>
          </a:p>
          <a:p>
            <a:pPr algn="l">
              <a:spcAft>
                <a:spcPts val="300"/>
              </a:spcAft>
            </a:pPr>
            <a:r>
              <a:rPr sz="1100" b="0">
                <a:solidFill>
                  <a:srgbClr val="5B6372"/>
                </a:solidFill>
                <a:latin typeface="Arial"/>
              </a:rPr>
              <a:t>The people serving customers already know where the pain 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Prioritise</a:t>
            </a:r>
          </a:p>
          <a:p>
            <a:pPr algn="l">
              <a:spcAft>
                <a:spcPts val="300"/>
              </a:spcAft>
            </a:pPr>
            <a:r>
              <a:rPr sz="1100" b="0">
                <a:solidFill>
                  <a:srgbClr val="5B6372"/>
                </a:solidFill>
                <a:latin typeface="Arial"/>
              </a:rPr>
              <a:t>Rank opportunities by impact and effort before committing a team.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500" b="1">
                <a:solidFill>
                  <a:srgbClr val="161B26"/>
                </a:solidFill>
                <a:latin typeface="Arial"/>
              </a:rPr>
              <a:t>Uncover Design Thinking Opportunities in Your Business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Study how Airbnb, IBM, Bank of America, Uber Eats and the public-sector cases applied design thinking, extract the transferable pattern from each, then map three concrete opportunities in your own business and rank them by impact and effort.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You'll produce</a:t>
            </a:r>
          </a:p>
        </p:txBody>
      </p:sp>
      <p:sp>
        <p:nvSpPr>
          <p:cNvPr id="13" name="TextBox 12"/>
          <p:cNvSpPr txBox="1"/>
          <p:nvPr/>
        </p:nvSpPr>
        <p:spPr>
          <a:xfrm>
            <a:off x="1005840" y="4498848"/>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An opportunity map with three ranked design-thinking opportunities for your own organisation.</a:t>
            </a:r>
          </a:p>
        </p:txBody>
      </p:sp>
      <p:sp>
        <p:nvSpPr>
          <p:cNvPr id="14" name="TextBox 13"/>
          <p:cNvSpPr txBox="1"/>
          <p:nvPr/>
        </p:nvSpPr>
        <p:spPr>
          <a:xfrm>
            <a:off x="1005840" y="5138928"/>
            <a:ext cx="10241280" cy="548640"/>
          </a:xfrm>
          <a:prstGeom prst="rect">
            <a:avLst/>
          </a:prstGeom>
          <a:noFill/>
        </p:spPr>
        <p:txBody>
          <a:bodyPr wrap="square" anchor="t">
            <a:spAutoFit/>
          </a:bodyPr>
          <a:lstStyle/>
          <a:p>
            <a:pPr algn="l">
              <a:spcAft>
                <a:spcPts val="400"/>
              </a:spcAft>
            </a:pPr>
            <a:r>
              <a:rPr sz="1200" b="1">
                <a:solidFill>
                  <a:srgbClr val="5B6372"/>
                </a:solidFill>
                <a:latin typeface="Arial"/>
              </a:rPr>
              <a:t>Ed-tools:  </a:t>
            </a:r>
            <a:r>
              <a:rPr sz="1200" b="0">
                <a:solidFill>
                  <a:srgbClr val="5B6372"/>
                </a:solidFill>
                <a:latin typeface="Arial"/>
              </a:rPr>
              <a:t>Design Thinking Toolkit (alfredang.github.io/designthinking), Digital Transformation Canvas (alfredang.github.io/digitaltransformation), Padlet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CHECK YOUR WORK</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500" b="1">
                <a:solidFill>
                  <a:srgbClr val="161B26"/>
                </a:solidFill>
                <a:latin typeface="Arial"/>
              </a:rPr>
              <a:t>Uncover Design Thinking Opportunities in Your Business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You're done when…</a:t>
            </a:r>
          </a:p>
        </p:txBody>
      </p:sp>
      <p:sp>
        <p:nvSpPr>
          <p:cNvPr id="10" name="TextBox 9"/>
          <p:cNvSpPr txBox="1"/>
          <p:nvPr/>
        </p:nvSpPr>
        <p:spPr>
          <a:xfrm>
            <a:off x="1097280" y="3063240"/>
            <a:ext cx="10058400" cy="1280160"/>
          </a:xfrm>
          <a:prstGeom prst="rect">
            <a:avLst/>
          </a:prstGeom>
          <a:noFill/>
        </p:spPr>
        <p:txBody>
          <a:bodyPr wrap="square" anchor="t">
            <a:spAutoFit/>
          </a:bodyPr>
          <a:lstStyle/>
          <a:p>
            <a:pPr algn="l">
              <a:spcAft>
                <a:spcPts val="400"/>
              </a:spcAft>
            </a:pPr>
            <a:r>
              <a:rPr sz="1700" b="0">
                <a:solidFill>
                  <a:srgbClr val="161B26"/>
                </a:solidFill>
                <a:latin typeface="Arial"/>
              </a:rPr>
              <a:t>You can name three design-thinking opportunities in your own organisation, each with an identified user group and observable symptom, and justify which one you would tackle first.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Recap — Applications of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analyse published use cases and uncover opportunities for applying design thinking in your own organisation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Action Phases of Design Thinking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Stanford d.school five-stage model · Empathize · Define · Ideate · Prototype · Test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MAPPED: A4, K4, A1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Key Concepts — Action Phases of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Empathize</a:t>
            </a:r>
          </a:p>
          <a:p>
            <a:pPr algn="l">
              <a:spcAft>
                <a:spcPts val="300"/>
              </a:spcAft>
            </a:pPr>
            <a:r>
              <a:rPr sz="1100" b="0">
                <a:solidFill>
                  <a:srgbClr val="5B6372"/>
                </a:solidFill>
                <a:latin typeface="Arial"/>
              </a:rPr>
              <a:t>Understand the user's experience, situation and emotion by observing, engaging and immersing — without judging.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Define</a:t>
            </a:r>
          </a:p>
          <a:p>
            <a:pPr algn="l">
              <a:spcAft>
                <a:spcPts val="300"/>
              </a:spcAft>
            </a:pPr>
            <a:r>
              <a:rPr sz="1100" b="0">
                <a:solidFill>
                  <a:srgbClr val="5B6372"/>
                </a:solidFill>
                <a:latin typeface="Arial"/>
              </a:rPr>
              <a:t>Synthesise the findings into a meaningful, actionable problem statement (user + need + insight).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Ideate</a:t>
            </a:r>
          </a:p>
          <a:p>
            <a:pPr algn="l">
              <a:spcAft>
                <a:spcPts val="300"/>
              </a:spcAft>
            </a:pPr>
            <a:r>
              <a:rPr sz="1100" b="0">
                <a:solidFill>
                  <a:srgbClr val="5B6372"/>
                </a:solidFill>
                <a:latin typeface="Arial"/>
              </a:rPr>
              <a:t>Go wide: generate a large variety and quantity of ideas before narrowing to the strongest few.</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Prototype</a:t>
            </a:r>
          </a:p>
          <a:p>
            <a:pPr algn="l">
              <a:spcAft>
                <a:spcPts val="300"/>
              </a:spcAft>
            </a:pPr>
            <a:r>
              <a:rPr sz="1100" b="0">
                <a:solidFill>
                  <a:srgbClr val="5B6372"/>
                </a:solidFill>
                <a:latin typeface="Arial"/>
              </a:rPr>
              <a:t>Build to think — a cheap, fast, low-fidelity artefact that makes the idea tangible.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Test</a:t>
            </a:r>
          </a:p>
          <a:p>
            <a:pPr algn="l">
              <a:spcAft>
                <a:spcPts val="300"/>
              </a:spcAft>
            </a:pPr>
            <a:r>
              <a:rPr sz="1100" b="0">
                <a:solidFill>
                  <a:srgbClr val="5B6372"/>
                </a:solidFill>
                <a:latin typeface="Arial"/>
              </a:rPr>
              <a:t>Put the prototype in users' hands, gather feedback, and refine or reframe.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Iterative, not linear</a:t>
            </a:r>
          </a:p>
          <a:p>
            <a:pPr algn="l">
              <a:spcAft>
                <a:spcPts val="300"/>
              </a:spcAft>
            </a:pPr>
            <a:r>
              <a:rPr sz="1100" b="0">
                <a:solidFill>
                  <a:srgbClr val="5B6372"/>
                </a:solidFill>
                <a:latin typeface="Arial"/>
              </a:rPr>
              <a:t>The five phases loop — insights from Test routinely send you back to Empathize or Define.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STANFORD d.school MODEL</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Five Action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53288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886968" y="3474720"/>
            <a:ext cx="1658721" cy="457200"/>
          </a:xfrm>
          <a:prstGeom prst="rect">
            <a:avLst/>
          </a:prstGeom>
          <a:noFill/>
        </p:spPr>
        <p:txBody>
          <a:bodyPr wrap="square" anchor="t">
            <a:spAutoFit/>
          </a:bodyPr>
          <a:lstStyle/>
          <a:p>
            <a:pPr algn="ctr">
              <a:spcAft>
                <a:spcPts val="400"/>
              </a:spcAft>
            </a:pPr>
            <a:r>
              <a:rPr sz="1700" b="1">
                <a:solidFill>
                  <a:srgbClr val="1F6FEB"/>
                </a:solidFill>
                <a:latin typeface="Arial"/>
              </a:rPr>
              <a:t>Empathize</a:t>
            </a:r>
          </a:p>
        </p:txBody>
      </p:sp>
      <p:sp>
        <p:nvSpPr>
          <p:cNvPr id="12" name="TextBox 11"/>
          <p:cNvSpPr txBox="1"/>
          <p:nvPr/>
        </p:nvSpPr>
        <p:spPr>
          <a:xfrm>
            <a:off x="905256"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Understand the experience of the user you are designing for.</a:t>
            </a:r>
          </a:p>
        </p:txBody>
      </p:sp>
      <p:sp>
        <p:nvSpPr>
          <p:cNvPr id="13" name="TextBox 12"/>
          <p:cNvSpPr txBox="1"/>
          <p:nvPr/>
        </p:nvSpPr>
        <p:spPr>
          <a:xfrm>
            <a:off x="2618841" y="347472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4" name="Rectangle 13"/>
          <p:cNvSpPr/>
          <p:nvPr/>
        </p:nvSpPr>
        <p:spPr>
          <a:xfrm>
            <a:off x="2966313"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6313" y="214884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0497" y="253288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0497"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8" name="TextBox 17"/>
          <p:cNvSpPr txBox="1"/>
          <p:nvPr/>
        </p:nvSpPr>
        <p:spPr>
          <a:xfrm>
            <a:off x="3076041" y="3474720"/>
            <a:ext cx="1658721" cy="457200"/>
          </a:xfrm>
          <a:prstGeom prst="rect">
            <a:avLst/>
          </a:prstGeom>
          <a:noFill/>
        </p:spPr>
        <p:txBody>
          <a:bodyPr wrap="square" anchor="t">
            <a:spAutoFit/>
          </a:bodyPr>
          <a:lstStyle/>
          <a:p>
            <a:pPr algn="ctr">
              <a:spcAft>
                <a:spcPts val="400"/>
              </a:spcAft>
            </a:pPr>
            <a:r>
              <a:rPr sz="1700" b="1">
                <a:solidFill>
                  <a:srgbClr val="10B981"/>
                </a:solidFill>
                <a:latin typeface="Arial"/>
              </a:rPr>
              <a:t>Define</a:t>
            </a:r>
          </a:p>
        </p:txBody>
      </p:sp>
      <p:sp>
        <p:nvSpPr>
          <p:cNvPr id="19" name="TextBox 18"/>
          <p:cNvSpPr txBox="1"/>
          <p:nvPr/>
        </p:nvSpPr>
        <p:spPr>
          <a:xfrm>
            <a:off x="3094329"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Synthesise findings into an actionable problem statement.</a:t>
            </a:r>
          </a:p>
        </p:txBody>
      </p:sp>
      <p:sp>
        <p:nvSpPr>
          <p:cNvPr id="20" name="TextBox 19"/>
          <p:cNvSpPr txBox="1"/>
          <p:nvPr/>
        </p:nvSpPr>
        <p:spPr>
          <a:xfrm>
            <a:off x="4807914" y="347472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5155386"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55386" y="214884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0" y="253288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0"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5" name="TextBox 24"/>
          <p:cNvSpPr txBox="1"/>
          <p:nvPr/>
        </p:nvSpPr>
        <p:spPr>
          <a:xfrm>
            <a:off x="5265114" y="3474720"/>
            <a:ext cx="1658721" cy="457200"/>
          </a:xfrm>
          <a:prstGeom prst="rect">
            <a:avLst/>
          </a:prstGeom>
          <a:noFill/>
        </p:spPr>
        <p:txBody>
          <a:bodyPr wrap="square" anchor="t">
            <a:spAutoFit/>
          </a:bodyPr>
          <a:lstStyle/>
          <a:p>
            <a:pPr algn="ctr">
              <a:spcAft>
                <a:spcPts val="400"/>
              </a:spcAft>
            </a:pPr>
            <a:r>
              <a:rPr sz="1700" b="1">
                <a:solidFill>
                  <a:srgbClr val="7C3AED"/>
                </a:solidFill>
                <a:latin typeface="Arial"/>
              </a:rPr>
              <a:t>Ideate</a:t>
            </a:r>
          </a:p>
        </p:txBody>
      </p:sp>
      <p:sp>
        <p:nvSpPr>
          <p:cNvPr id="26" name="TextBox 25"/>
          <p:cNvSpPr txBox="1"/>
          <p:nvPr/>
        </p:nvSpPr>
        <p:spPr>
          <a:xfrm>
            <a:off x="5283402"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Generate a wide variety of possible solutions.</a:t>
            </a:r>
          </a:p>
        </p:txBody>
      </p:sp>
      <p:sp>
        <p:nvSpPr>
          <p:cNvPr id="27" name="TextBox 26"/>
          <p:cNvSpPr txBox="1"/>
          <p:nvPr/>
        </p:nvSpPr>
        <p:spPr>
          <a:xfrm>
            <a:off x="6996987" y="347472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8" name="Rectangle 27"/>
          <p:cNvSpPr/>
          <p:nvPr/>
        </p:nvSpPr>
        <p:spPr>
          <a:xfrm>
            <a:off x="7344459"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4459" y="214884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08643" y="253288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8643"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32" name="TextBox 31"/>
          <p:cNvSpPr txBox="1"/>
          <p:nvPr/>
        </p:nvSpPr>
        <p:spPr>
          <a:xfrm>
            <a:off x="7454187" y="3474720"/>
            <a:ext cx="1658721" cy="457200"/>
          </a:xfrm>
          <a:prstGeom prst="rect">
            <a:avLst/>
          </a:prstGeom>
          <a:noFill/>
        </p:spPr>
        <p:txBody>
          <a:bodyPr wrap="square" anchor="t">
            <a:spAutoFit/>
          </a:bodyPr>
          <a:lstStyle/>
          <a:p>
            <a:pPr algn="ctr">
              <a:spcAft>
                <a:spcPts val="400"/>
              </a:spcAft>
            </a:pPr>
            <a:r>
              <a:rPr sz="1700" b="1">
                <a:solidFill>
                  <a:srgbClr val="F59E0B"/>
                </a:solidFill>
                <a:latin typeface="Arial"/>
              </a:rPr>
              <a:t>Prototype</a:t>
            </a:r>
          </a:p>
        </p:txBody>
      </p:sp>
      <p:sp>
        <p:nvSpPr>
          <p:cNvPr id="33" name="TextBox 32"/>
          <p:cNvSpPr txBox="1"/>
          <p:nvPr/>
        </p:nvSpPr>
        <p:spPr>
          <a:xfrm>
            <a:off x="7472475"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Build a tangible representation of your idea.</a:t>
            </a:r>
          </a:p>
        </p:txBody>
      </p:sp>
      <p:sp>
        <p:nvSpPr>
          <p:cNvPr id="34" name="TextBox 33"/>
          <p:cNvSpPr txBox="1"/>
          <p:nvPr/>
        </p:nvSpPr>
        <p:spPr>
          <a:xfrm>
            <a:off x="9186060" y="347472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5" name="Rectangle 34"/>
          <p:cNvSpPr/>
          <p:nvPr/>
        </p:nvSpPr>
        <p:spPr>
          <a:xfrm>
            <a:off x="9533532"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3532" y="214884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97716" y="253288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7716"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9" name="TextBox 38"/>
          <p:cNvSpPr txBox="1"/>
          <p:nvPr/>
        </p:nvSpPr>
        <p:spPr>
          <a:xfrm>
            <a:off x="9643260" y="3474720"/>
            <a:ext cx="1658721" cy="457200"/>
          </a:xfrm>
          <a:prstGeom prst="rect">
            <a:avLst/>
          </a:prstGeom>
          <a:noFill/>
        </p:spPr>
        <p:txBody>
          <a:bodyPr wrap="square" anchor="t">
            <a:spAutoFit/>
          </a:bodyPr>
          <a:lstStyle/>
          <a:p>
            <a:pPr algn="ctr">
              <a:spcAft>
                <a:spcPts val="400"/>
              </a:spcAft>
            </a:pPr>
            <a:r>
              <a:rPr sz="1700" b="1">
                <a:solidFill>
                  <a:srgbClr val="1F6FEB"/>
                </a:solidFill>
                <a:latin typeface="Arial"/>
              </a:rPr>
              <a:t>Test</a:t>
            </a:r>
          </a:p>
        </p:txBody>
      </p:sp>
      <p:sp>
        <p:nvSpPr>
          <p:cNvPr id="40" name="TextBox 39"/>
          <p:cNvSpPr txBox="1"/>
          <p:nvPr/>
        </p:nvSpPr>
        <p:spPr>
          <a:xfrm>
            <a:off x="9661548"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Put it in users' hands and gather feedback.</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PHASE 1</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Action Phase 1 — Empathize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Objective</a:t>
            </a:r>
          </a:p>
          <a:p>
            <a:pPr algn="l">
              <a:spcAft>
                <a:spcPts val="300"/>
              </a:spcAft>
            </a:pPr>
            <a:r>
              <a:rPr sz="1100" b="0">
                <a:solidFill>
                  <a:srgbClr val="5B6372"/>
                </a:solidFill>
                <a:latin typeface="Arial"/>
              </a:rPr>
              <a:t>Understand the experience, situation and emotion of the user you are designing for.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Observe</a:t>
            </a:r>
          </a:p>
          <a:p>
            <a:pPr algn="l">
              <a:spcAft>
                <a:spcPts val="300"/>
              </a:spcAft>
            </a:pPr>
            <a:r>
              <a:rPr sz="1100" b="0">
                <a:solidFill>
                  <a:srgbClr val="5B6372"/>
                </a:solidFill>
                <a:latin typeface="Arial"/>
              </a:rPr>
              <a:t>View users and their behaviour in the context of their lives. Don't judge.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Engage</a:t>
            </a:r>
          </a:p>
          <a:p>
            <a:pPr algn="l">
              <a:spcAft>
                <a:spcPts val="300"/>
              </a:spcAft>
            </a:pPr>
            <a:r>
              <a:rPr sz="1100" b="0">
                <a:solidFill>
                  <a:srgbClr val="5B6372"/>
                </a:solidFill>
                <a:latin typeface="Arial"/>
              </a:rPr>
              <a:t>Interact with people in conversations and interviews. Ask why — repeatedly.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Immerse</a:t>
            </a:r>
          </a:p>
          <a:p>
            <a:pPr algn="l">
              <a:spcAft>
                <a:spcPts val="300"/>
              </a:spcAft>
            </a:pPr>
            <a:r>
              <a:rPr sz="1100" b="0">
                <a:solidFill>
                  <a:srgbClr val="5B6372"/>
                </a:solidFill>
                <a:latin typeface="Arial"/>
              </a:rPr>
              <a:t>Experience what your user experiences, first-hand.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Beginner's mindset</a:t>
            </a:r>
          </a:p>
          <a:p>
            <a:pPr algn="l">
              <a:spcAft>
                <a:spcPts val="300"/>
              </a:spcAft>
            </a:pPr>
            <a:r>
              <a:rPr sz="1100" b="0">
                <a:solidFill>
                  <a:srgbClr val="5B6372"/>
                </a:solidFill>
                <a:latin typeface="Arial"/>
              </a:rPr>
              <a:t>Leave your assumptions behind; question what you think you already know.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Example — the MRI scanner</a:t>
            </a:r>
          </a:p>
          <a:p>
            <a:pPr algn="l">
              <a:spcAft>
                <a:spcPts val="300"/>
              </a:spcAft>
            </a:pPr>
            <a:r>
              <a:rPr sz="1100" b="0">
                <a:solidFill>
                  <a:srgbClr val="5B6372"/>
                </a:solidFill>
                <a:latin typeface="Arial"/>
              </a:rPr>
              <a:t>Immersion revealed that an MRI room terrifies a child. The redesign turned the scan into an adventure.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PHASE 2</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Action Phase 2 — Define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Objective</a:t>
            </a:r>
          </a:p>
          <a:p>
            <a:pPr algn="l">
              <a:spcAft>
                <a:spcPts val="300"/>
              </a:spcAft>
            </a:pPr>
            <a:r>
              <a:rPr sz="1100" b="0">
                <a:solidFill>
                  <a:srgbClr val="5B6372"/>
                </a:solidFill>
                <a:latin typeface="Arial"/>
              </a:rPr>
              <a:t>Process and synthesise the findings into a problem statement you will address.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User</a:t>
            </a:r>
          </a:p>
          <a:p>
            <a:pPr algn="l">
              <a:spcAft>
                <a:spcPts val="300"/>
              </a:spcAft>
            </a:pPr>
            <a:r>
              <a:rPr sz="1100" b="0">
                <a:solidFill>
                  <a:srgbClr val="5B6372"/>
                </a:solidFill>
                <a:latin typeface="Arial"/>
              </a:rPr>
              <a:t>Develop an understanding of the persona you are designing for.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Needs</a:t>
            </a:r>
          </a:p>
          <a:p>
            <a:pPr algn="l">
              <a:spcAft>
                <a:spcPts val="300"/>
              </a:spcAft>
            </a:pPr>
            <a:r>
              <a:rPr sz="1100" b="0">
                <a:solidFill>
                  <a:srgbClr val="5B6372"/>
                </a:solidFill>
                <a:latin typeface="Arial"/>
              </a:rPr>
              <a:t>Select a limited set of needs to fulfil — needs should be verbs.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Insights</a:t>
            </a:r>
          </a:p>
          <a:p>
            <a:pPr algn="l">
              <a:spcAft>
                <a:spcPts val="300"/>
              </a:spcAft>
            </a:pPr>
            <a:r>
              <a:rPr sz="1100" b="0">
                <a:solidFill>
                  <a:srgbClr val="5B6372"/>
                </a:solidFill>
                <a:latin typeface="Arial"/>
              </a:rPr>
              <a:t>Express the insights you developed and define your design principles.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good problem statement</a:t>
            </a:r>
          </a:p>
          <a:p>
            <a:pPr algn="l">
              <a:spcAft>
                <a:spcPts val="300"/>
              </a:spcAft>
            </a:pPr>
            <a:r>
              <a:rPr sz="1100" b="0">
                <a:solidFill>
                  <a:srgbClr val="5B6372"/>
                </a:solidFill>
                <a:latin typeface="Arial"/>
              </a:rPr>
              <a:t>Is human-centred, broad enough for creativity, narrow enough to be manageable.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Methods</a:t>
            </a:r>
          </a:p>
          <a:p>
            <a:pPr algn="l">
              <a:spcAft>
                <a:spcPts val="300"/>
              </a:spcAft>
            </a:pPr>
            <a:r>
              <a:rPr sz="1100" b="0">
                <a:solidFill>
                  <a:srgbClr val="5B6372"/>
                </a:solidFill>
                <a:latin typeface="Arial"/>
              </a:rPr>
              <a:t>Clustering, empathy mapping, POV statements, 'How Might We', why-how laddering.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34440"/>
            <a:ext cx="1828800" cy="1280160"/>
          </a:xfrm>
          <a:prstGeom prst="rect">
            <a:avLst/>
          </a:prstGeom>
          <a:noFill/>
        </p:spPr>
        <p:txBody>
          <a:bodyPr wrap="square" anchor="t">
            <a:spAutoFit/>
          </a:bodyPr>
          <a:lstStyle/>
          <a:p>
            <a:pPr algn="l">
              <a:spcAft>
                <a:spcPts val="400"/>
              </a:spcAft>
            </a:pPr>
            <a:r>
              <a:rPr sz="13000" b="1">
                <a:solidFill>
                  <a:srgbClr val="E2E8F0"/>
                </a:solidFill>
                <a:latin typeface="Arial"/>
              </a:rPr>
              <a:t>“</a:t>
            </a:r>
          </a:p>
        </p:txBody>
      </p:sp>
      <p:sp>
        <p:nvSpPr>
          <p:cNvPr id="5" name="TextBox 4"/>
          <p:cNvSpPr txBox="1"/>
          <p:nvPr/>
        </p:nvSpPr>
        <p:spPr>
          <a:xfrm>
            <a:off x="1417320" y="1965960"/>
            <a:ext cx="9692640" cy="2651760"/>
          </a:xfrm>
          <a:prstGeom prst="rect">
            <a:avLst/>
          </a:prstGeom>
          <a:noFill/>
        </p:spPr>
        <p:txBody>
          <a:bodyPr wrap="square" anchor="ctr">
            <a:spAutoFit/>
          </a:bodyPr>
          <a:lstStyle/>
          <a:p>
            <a:pPr algn="l">
              <a:spcAft>
                <a:spcPts val="400"/>
              </a:spcAft>
            </a:pPr>
            <a:r>
              <a:rPr sz="3000" b="1">
                <a:solidFill>
                  <a:srgbClr val="161B26"/>
                </a:solidFill>
                <a:latin typeface="Arial"/>
              </a:rPr>
              <a:t>A problem well-stated is a problem half-solved.</a:t>
            </a:r>
          </a:p>
        </p:txBody>
      </p:sp>
      <p:sp>
        <p:nvSpPr>
          <p:cNvPr id="6" name="Rectangle 5"/>
          <p:cNvSpPr/>
          <p:nvPr/>
        </p:nvSpPr>
        <p:spPr>
          <a:xfrm>
            <a:off x="1463040" y="4800600"/>
            <a:ext cx="164592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5029200"/>
            <a:ext cx="9144000" cy="822960"/>
          </a:xfrm>
          <a:prstGeom prst="rect">
            <a:avLst/>
          </a:prstGeom>
          <a:noFill/>
        </p:spPr>
        <p:txBody>
          <a:bodyPr wrap="square" anchor="t">
            <a:spAutoFit/>
          </a:bodyPr>
          <a:lstStyle/>
          <a:p>
            <a:pPr algn="l">
              <a:spcAft>
                <a:spcPts val="400"/>
              </a:spcAft>
            </a:pPr>
            <a:r>
              <a:rPr sz="1800" b="1">
                <a:solidFill>
                  <a:srgbClr val="10B981"/>
                </a:solidFill>
                <a:latin typeface="Arial"/>
              </a:rPr>
              <a:t>Charles F. Kettering</a:t>
            </a:r>
          </a:p>
          <a:p>
            <a:pPr algn="l">
              <a:spcAft>
                <a:spcPts val="400"/>
              </a:spcAft>
            </a:pPr>
            <a:r>
              <a:rPr sz="1300" b="0">
                <a:solidFill>
                  <a:srgbClr val="5B6372"/>
                </a:solidFill>
                <a:latin typeface="Arial"/>
              </a:rPr>
              <a:t>Inventor · Head of research, General Motors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PHASE 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Action Phase 3 — Ideate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Objective</a:t>
            </a:r>
          </a:p>
          <a:p>
            <a:pPr algn="l">
              <a:spcAft>
                <a:spcPts val="300"/>
              </a:spcAft>
            </a:pPr>
            <a:r>
              <a:rPr sz="1100" b="0">
                <a:solidFill>
                  <a:srgbClr val="5B6372"/>
                </a:solidFill>
                <a:latin typeface="Arial"/>
              </a:rPr>
              <a:t>Focus on idea generation — translate problems into solutions.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 wide</a:t>
            </a:r>
          </a:p>
          <a:p>
            <a:pPr algn="l">
              <a:spcAft>
                <a:spcPts val="300"/>
              </a:spcAft>
            </a:pPr>
            <a:r>
              <a:rPr sz="1100" b="0">
                <a:solidFill>
                  <a:srgbClr val="5B6372"/>
                </a:solidFill>
                <a:latin typeface="Arial"/>
              </a:rPr>
              <a:t>Explore a large quantity and variety of ideas to get beyond the obvious.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Creativity</a:t>
            </a:r>
          </a:p>
          <a:p>
            <a:pPr algn="l">
              <a:spcAft>
                <a:spcPts val="300"/>
              </a:spcAft>
            </a:pPr>
            <a:r>
              <a:rPr sz="1100" b="0">
                <a:solidFill>
                  <a:srgbClr val="5B6372"/>
                </a:solidFill>
                <a:latin typeface="Arial"/>
              </a:rPr>
              <a:t>Combine rational thought with imagination; defer judgement.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Group synergy</a:t>
            </a:r>
          </a:p>
          <a:p>
            <a:pPr algn="l">
              <a:spcAft>
                <a:spcPts val="300"/>
              </a:spcAft>
            </a:pPr>
            <a:r>
              <a:rPr sz="1100" b="0">
                <a:solidFill>
                  <a:srgbClr val="5B6372"/>
                </a:solidFill>
                <a:latin typeface="Arial"/>
              </a:rPr>
              <a:t>Leverage the group to reach new ideas and build on others'.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Diverge, then converge</a:t>
            </a:r>
          </a:p>
          <a:p>
            <a:pPr algn="l">
              <a:spcAft>
                <a:spcPts val="300"/>
              </a:spcAft>
            </a:pPr>
            <a:r>
              <a:rPr sz="1100" b="0">
                <a:solidFill>
                  <a:srgbClr val="5B6372"/>
                </a:solidFill>
                <a:latin typeface="Arial"/>
              </a:rPr>
              <a:t>Separate the generation of ideas from their evaluation.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Facilitate actively</a:t>
            </a:r>
          </a:p>
          <a:p>
            <a:pPr algn="l">
              <a:spcAft>
                <a:spcPts val="300"/>
              </a:spcAft>
            </a:pPr>
            <a:r>
              <a:rPr sz="1100" b="0">
                <a:solidFill>
                  <a:srgbClr val="5B6372"/>
                </a:solidFill>
                <a:latin typeface="Arial"/>
              </a:rPr>
              <a:t>Create a curious, courageous and concentrated atmosphere.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34440"/>
            <a:ext cx="1828800" cy="1280160"/>
          </a:xfrm>
          <a:prstGeom prst="rect">
            <a:avLst/>
          </a:prstGeom>
          <a:noFill/>
        </p:spPr>
        <p:txBody>
          <a:bodyPr wrap="square" anchor="t">
            <a:spAutoFit/>
          </a:bodyPr>
          <a:lstStyle/>
          <a:p>
            <a:pPr algn="l">
              <a:spcAft>
                <a:spcPts val="400"/>
              </a:spcAft>
            </a:pPr>
            <a:r>
              <a:rPr sz="13000" b="1">
                <a:solidFill>
                  <a:srgbClr val="E2E8F0"/>
                </a:solidFill>
                <a:latin typeface="Arial"/>
              </a:rPr>
              <a:t>“</a:t>
            </a:r>
          </a:p>
        </p:txBody>
      </p:sp>
      <p:sp>
        <p:nvSpPr>
          <p:cNvPr id="5" name="TextBox 4"/>
          <p:cNvSpPr txBox="1"/>
          <p:nvPr/>
        </p:nvSpPr>
        <p:spPr>
          <a:xfrm>
            <a:off x="1417320" y="1965960"/>
            <a:ext cx="9692640" cy="2651760"/>
          </a:xfrm>
          <a:prstGeom prst="rect">
            <a:avLst/>
          </a:prstGeom>
          <a:noFill/>
        </p:spPr>
        <p:txBody>
          <a:bodyPr wrap="square" anchor="ctr">
            <a:spAutoFit/>
          </a:bodyPr>
          <a:lstStyle/>
          <a:p>
            <a:pPr algn="l">
              <a:spcAft>
                <a:spcPts val="400"/>
              </a:spcAft>
            </a:pPr>
            <a:r>
              <a:rPr sz="3000" b="1">
                <a:solidFill>
                  <a:srgbClr val="161B26"/>
                </a:solidFill>
                <a:latin typeface="Arial"/>
              </a:rPr>
              <a:t>If at first the idea is not absurd, then there is no hope for it.</a:t>
            </a:r>
          </a:p>
        </p:txBody>
      </p:sp>
      <p:sp>
        <p:nvSpPr>
          <p:cNvPr id="6" name="Rectangle 5"/>
          <p:cNvSpPr/>
          <p:nvPr/>
        </p:nvSpPr>
        <p:spPr>
          <a:xfrm>
            <a:off x="1463040" y="4800600"/>
            <a:ext cx="1645920"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5029200"/>
            <a:ext cx="9144000" cy="822960"/>
          </a:xfrm>
          <a:prstGeom prst="rect">
            <a:avLst/>
          </a:prstGeom>
          <a:noFill/>
        </p:spPr>
        <p:txBody>
          <a:bodyPr wrap="square" anchor="t">
            <a:spAutoFit/>
          </a:bodyPr>
          <a:lstStyle/>
          <a:p>
            <a:pPr algn="l">
              <a:spcAft>
                <a:spcPts val="400"/>
              </a:spcAft>
            </a:pPr>
            <a:r>
              <a:rPr sz="1800" b="1">
                <a:solidFill>
                  <a:srgbClr val="7C3AED"/>
                </a:solidFill>
                <a:latin typeface="Arial"/>
              </a:rPr>
              <a:t>Albert Einstein</a:t>
            </a:r>
          </a:p>
          <a:p>
            <a:pPr algn="l">
              <a:spcAft>
                <a:spcPts val="400"/>
              </a:spcAft>
            </a:pPr>
            <a:r>
              <a:rPr sz="1300" b="0">
                <a:solidFill>
                  <a:srgbClr val="5B6372"/>
                </a:solidFill>
                <a:latin typeface="Arial"/>
              </a:rPr>
              <a:t>Theoretical physicist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03 · PHASE 4</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Action Phase 4 — Prototype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Objective</a:t>
            </a:r>
          </a:p>
          <a:p>
            <a:pPr algn="l">
              <a:spcAft>
                <a:spcPts val="300"/>
              </a:spcAft>
            </a:pPr>
            <a:r>
              <a:rPr sz="1100" b="0">
                <a:solidFill>
                  <a:srgbClr val="5B6372"/>
                </a:solidFill>
                <a:latin typeface="Arial"/>
              </a:rPr>
              <a:t>Build to think — a simple, cheap and fast way to shape ideas you can interact with.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It can be anything</a:t>
            </a:r>
          </a:p>
          <a:p>
            <a:pPr algn="l">
              <a:spcAft>
                <a:spcPts val="300"/>
              </a:spcAft>
            </a:pPr>
            <a:r>
              <a:rPr sz="1100" b="0">
                <a:solidFill>
                  <a:srgbClr val="5B6372"/>
                </a:solidFill>
                <a:latin typeface="Arial"/>
              </a:rPr>
              <a:t>A wall of post-its, a role-play, a space, an object, an interface, a storyboard.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Low fidelity</a:t>
            </a:r>
          </a:p>
          <a:p>
            <a:pPr algn="l">
              <a:spcAft>
                <a:spcPts val="300"/>
              </a:spcAft>
            </a:pPr>
            <a:r>
              <a:rPr sz="1100" b="0">
                <a:solidFill>
                  <a:srgbClr val="5B6372"/>
                </a:solidFill>
                <a:latin typeface="Arial"/>
              </a:rPr>
              <a:t>Basic models using simple materials — fast, cheap, easy to change.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High fidelity</a:t>
            </a:r>
          </a:p>
          <a:p>
            <a:pPr algn="l">
              <a:spcAft>
                <a:spcPts val="300"/>
              </a:spcAft>
            </a:pPr>
            <a:r>
              <a:rPr sz="1100" b="0">
                <a:solidFill>
                  <a:srgbClr val="5B6372"/>
                </a:solidFill>
                <a:latin typeface="Arial"/>
              </a:rPr>
              <a:t>Closer to the finished product — used later, when the concept is settled.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Just start building</a:t>
            </a:r>
          </a:p>
          <a:p>
            <a:pPr algn="l">
              <a:spcAft>
                <a:spcPts val="300"/>
              </a:spcAft>
            </a:pPr>
            <a:r>
              <a:rPr sz="1100" b="0">
                <a:solidFill>
                  <a:srgbClr val="5B6372"/>
                </a:solidFill>
                <a:latin typeface="Arial"/>
              </a:rPr>
              <a:t>Don't spend too much time; remember what you're testing for.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Build with the user in mind</a:t>
            </a:r>
          </a:p>
          <a:p>
            <a:pPr algn="l">
              <a:spcAft>
                <a:spcPts val="300"/>
              </a:spcAft>
            </a:pPr>
            <a:r>
              <a:rPr sz="1100" b="0">
                <a:solidFill>
                  <a:srgbClr val="5B6372"/>
                </a:solidFill>
                <a:latin typeface="Arial"/>
              </a:rPr>
              <a:t>The prototype exists to provoke a reaction, not to impress.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TOPIC 03 · PHASE 5</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Action Phase 5 —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Objective</a:t>
            </a:r>
          </a:p>
          <a:p>
            <a:pPr algn="l">
              <a:spcAft>
                <a:spcPts val="300"/>
              </a:spcAft>
            </a:pPr>
            <a:r>
              <a:rPr sz="1100" b="0">
                <a:solidFill>
                  <a:srgbClr val="5B6372"/>
                </a:solidFill>
                <a:latin typeface="Arial"/>
              </a:rPr>
              <a:t>Ask for feedback, learn about your user, reframe your POV and refine the prototype.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Show, don't tell</a:t>
            </a:r>
          </a:p>
          <a:p>
            <a:pPr algn="l">
              <a:spcAft>
                <a:spcPts val="300"/>
              </a:spcAft>
            </a:pPr>
            <a:r>
              <a:rPr sz="1100" b="0">
                <a:solidFill>
                  <a:srgbClr val="5B6372"/>
                </a:solidFill>
                <a:latin typeface="Arial"/>
              </a:rPr>
              <a:t>Put it in their hands and let them use it. Avoid over-explaining.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Create experiences</a:t>
            </a:r>
          </a:p>
          <a:p>
            <a:pPr algn="l">
              <a:spcAft>
                <a:spcPts val="300"/>
              </a:spcAft>
            </a:pPr>
            <a:r>
              <a:rPr sz="1100" b="0">
                <a:solidFill>
                  <a:srgbClr val="5B6372"/>
                </a:solidFill>
                <a:latin typeface="Arial"/>
              </a:rPr>
              <a:t>Let people talk about how they experience it and how they feel.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Compare</a:t>
            </a:r>
          </a:p>
          <a:p>
            <a:pPr algn="l">
              <a:spcAft>
                <a:spcPts val="300"/>
              </a:spcAft>
            </a:pPr>
            <a:r>
              <a:rPr sz="1100" b="0">
                <a:solidFill>
                  <a:srgbClr val="5B6372"/>
                </a:solidFill>
                <a:latin typeface="Arial"/>
              </a:rPr>
              <a:t>Let users test multiple prototypes to reveal latent needs and preferences.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Test in context</a:t>
            </a:r>
          </a:p>
          <a:p>
            <a:pPr algn="l">
              <a:spcAft>
                <a:spcPts val="300"/>
              </a:spcAft>
            </a:pPr>
            <a:r>
              <a:rPr sz="1100" b="0">
                <a:solidFill>
                  <a:srgbClr val="5B6372"/>
                </a:solidFill>
                <a:latin typeface="Arial"/>
              </a:rPr>
              <a:t>Use the natural setting where the product would really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Negative feedback is data</a:t>
            </a:r>
          </a:p>
          <a:p>
            <a:pPr algn="l">
              <a:spcAft>
                <a:spcPts val="300"/>
              </a:spcAft>
            </a:pPr>
            <a:r>
              <a:rPr sz="1100" b="0">
                <a:solidFill>
                  <a:srgbClr val="5B6372"/>
                </a:solidFill>
                <a:latin typeface="Arial"/>
              </a:rPr>
              <a:t>Difficulty reveals new problems — revisit your solutions and reframe.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34440"/>
            <a:ext cx="1828800" cy="1280160"/>
          </a:xfrm>
          <a:prstGeom prst="rect">
            <a:avLst/>
          </a:prstGeom>
          <a:noFill/>
        </p:spPr>
        <p:txBody>
          <a:bodyPr wrap="square" anchor="t">
            <a:spAutoFit/>
          </a:bodyPr>
          <a:lstStyle/>
          <a:p>
            <a:pPr algn="l">
              <a:spcAft>
                <a:spcPts val="400"/>
              </a:spcAft>
            </a:pPr>
            <a:r>
              <a:rPr sz="13000" b="1">
                <a:solidFill>
                  <a:srgbClr val="E2E8F0"/>
                </a:solidFill>
                <a:latin typeface="Arial"/>
              </a:rPr>
              <a:t>“</a:t>
            </a:r>
          </a:p>
        </p:txBody>
      </p:sp>
      <p:sp>
        <p:nvSpPr>
          <p:cNvPr id="5" name="TextBox 4"/>
          <p:cNvSpPr txBox="1"/>
          <p:nvPr/>
        </p:nvSpPr>
        <p:spPr>
          <a:xfrm>
            <a:off x="1417320" y="1965960"/>
            <a:ext cx="9692640" cy="2651760"/>
          </a:xfrm>
          <a:prstGeom prst="rect">
            <a:avLst/>
          </a:prstGeom>
          <a:noFill/>
        </p:spPr>
        <p:txBody>
          <a:bodyPr wrap="square" anchor="ctr">
            <a:spAutoFit/>
          </a:bodyPr>
          <a:lstStyle/>
          <a:p>
            <a:pPr algn="l">
              <a:spcAft>
                <a:spcPts val="400"/>
              </a:spcAft>
            </a:pPr>
            <a:r>
              <a:rPr sz="3000" b="1">
                <a:solidFill>
                  <a:srgbClr val="161B26"/>
                </a:solidFill>
                <a:latin typeface="Arial"/>
              </a:rPr>
              <a:t>Insanity is doing the same thing over and over again and expecting different results.</a:t>
            </a:r>
          </a:p>
        </p:txBody>
      </p:sp>
      <p:sp>
        <p:nvSpPr>
          <p:cNvPr id="6" name="Rectangle 5"/>
          <p:cNvSpPr/>
          <p:nvPr/>
        </p:nvSpPr>
        <p:spPr>
          <a:xfrm>
            <a:off x="1463040" y="4800600"/>
            <a:ext cx="1645920" cy="5486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5029200"/>
            <a:ext cx="9144000" cy="822960"/>
          </a:xfrm>
          <a:prstGeom prst="rect">
            <a:avLst/>
          </a:prstGeom>
          <a:noFill/>
        </p:spPr>
        <p:txBody>
          <a:bodyPr wrap="square" anchor="t">
            <a:spAutoFit/>
          </a:bodyPr>
          <a:lstStyle/>
          <a:p>
            <a:pPr algn="l">
              <a:spcAft>
                <a:spcPts val="400"/>
              </a:spcAft>
            </a:pPr>
            <a:r>
              <a:rPr sz="1800" b="1">
                <a:solidFill>
                  <a:srgbClr val="E11D48"/>
                </a:solidFill>
                <a:latin typeface="Arial"/>
              </a:rPr>
              <a:t>Albert Einstein</a:t>
            </a:r>
          </a:p>
          <a:p>
            <a:pPr algn="l">
              <a:spcAft>
                <a:spcPts val="400"/>
              </a:spcAft>
            </a:pPr>
            <a:r>
              <a:rPr sz="1300" b="0">
                <a:solidFill>
                  <a:srgbClr val="5B6372"/>
                </a:solidFill>
                <a:latin typeface="Arial"/>
              </a:rPr>
              <a:t>On why testing must actually change the design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ITERATE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five phases are a loop, not a line.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Insights from Test routinely send you back to Empathize or Define. Iteration is the method, not a sign of failure.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Wallet Project — A Full Design Thinking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The classic Stanford d.school immersive exercise. Working in pairs, you take a partner through all five action phases — Empathize, Define, Ideate, Prototype and Test — to redesign their wallet, or more precisely the experience of carrying what matters to them. It is deliberately fast so you feel the rhythm of the whole cycle.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You'll produce</a:t>
            </a:r>
          </a:p>
        </p:txBody>
      </p:sp>
      <p:sp>
        <p:nvSpPr>
          <p:cNvPr id="13" name="TextBox 12"/>
          <p:cNvSpPr txBox="1"/>
          <p:nvPr/>
        </p:nvSpPr>
        <p:spPr>
          <a:xfrm>
            <a:off x="1005840" y="4498848"/>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tested paper prototype of a redesigned wallet, plus your partner's feedback and a refined concept.</a:t>
            </a:r>
          </a:p>
        </p:txBody>
      </p:sp>
      <p:sp>
        <p:nvSpPr>
          <p:cNvPr id="14" name="TextBox 13"/>
          <p:cNvSpPr txBox="1"/>
          <p:nvPr/>
        </p:nvSpPr>
        <p:spPr>
          <a:xfrm>
            <a:off x="1005840" y="5138928"/>
            <a:ext cx="10241280" cy="548640"/>
          </a:xfrm>
          <a:prstGeom prst="rect">
            <a:avLst/>
          </a:prstGeom>
          <a:noFill/>
        </p:spPr>
        <p:txBody>
          <a:bodyPr wrap="square" anchor="t">
            <a:spAutoFit/>
          </a:bodyPr>
          <a:lstStyle/>
          <a:p>
            <a:pPr algn="l">
              <a:spcAft>
                <a:spcPts val="400"/>
              </a:spcAft>
            </a:pPr>
            <a:r>
              <a:rPr sz="1200" b="1">
                <a:solidFill>
                  <a:srgbClr val="5B6372"/>
                </a:solidFill>
                <a:latin typeface="Arial"/>
              </a:rPr>
              <a:t>Ed-tools:  </a:t>
            </a:r>
            <a:r>
              <a:rPr sz="1200" b="0">
                <a:solidFill>
                  <a:srgbClr val="5B6372"/>
                </a:solidFill>
                <a:latin typeface="Arial"/>
              </a:rPr>
              <a:t>Design Thinking Toolkit (alfredang.github.io/designthinking), draw.chat, Padlet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CHECK YOUR WORK</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Wallet Project — A Full Design Thinking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You're done when…</a:t>
            </a:r>
          </a:p>
        </p:txBody>
      </p:sp>
      <p:sp>
        <p:nvSpPr>
          <p:cNvPr id="10" name="TextBox 9"/>
          <p:cNvSpPr txBox="1"/>
          <p:nvPr/>
        </p:nvSpPr>
        <p:spPr>
          <a:xfrm>
            <a:off x="1097280" y="3063240"/>
            <a:ext cx="10058400" cy="1280160"/>
          </a:xfrm>
          <a:prstGeom prst="rect">
            <a:avLst/>
          </a:prstGeom>
          <a:noFill/>
        </p:spPr>
        <p:txBody>
          <a:bodyPr wrap="square" anchor="t">
            <a:spAutoFit/>
          </a:bodyPr>
          <a:lstStyle/>
          <a:p>
            <a:pPr algn="l">
              <a:spcAft>
                <a:spcPts val="400"/>
              </a:spcAft>
            </a:pPr>
            <a:r>
              <a:rPr sz="1700" b="0">
                <a:solidFill>
                  <a:srgbClr val="161B26"/>
                </a:solidFill>
                <a:latin typeface="Arial"/>
              </a:rPr>
              <a:t>You have completed all five phases, your prototype changed as a direct result of your partner's test feedback, and you can state the POV insight in your partner's own words.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Recap — Action Phases of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run all five action phases end to end in a single compressed cycle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Methodologies and Visual Tools for Design Thinking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Empathize · Define · Ideate · Prototype · Test methods, tools and metrics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MAPPED: A5, K7, A3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500" b="1">
                <a:solidFill>
                  <a:srgbClr val="161B26"/>
                </a:solidFill>
                <a:latin typeface="Arial"/>
              </a:rPr>
              <a:t>Key Concepts — Methodologies and Visual Tools for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Empathize tools</a:t>
            </a:r>
          </a:p>
          <a:p>
            <a:pPr algn="l">
              <a:spcAft>
                <a:spcPts val="300"/>
              </a:spcAft>
            </a:pPr>
            <a:r>
              <a:rPr sz="1100" b="0">
                <a:solidFill>
                  <a:srgbClr val="5B6372"/>
                </a:solidFill>
                <a:latin typeface="Arial"/>
              </a:rPr>
              <a:t>Empathy Map (Says / Thinks / Does / Feels), Persona Mapping, Journey Mapping, interviews and bodystorming.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Define tools</a:t>
            </a:r>
          </a:p>
          <a:p>
            <a:pPr algn="l">
              <a:spcAft>
                <a:spcPts val="300"/>
              </a:spcAft>
            </a:pPr>
            <a:r>
              <a:rPr sz="1100" b="0">
                <a:solidFill>
                  <a:srgbClr val="5B6372"/>
                </a:solidFill>
                <a:latin typeface="Arial"/>
              </a:rPr>
              <a:t>Point of View (POV) statements, 'How Might We' questions, Why-How laddering and the Business Model Canvas.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Ideate tools</a:t>
            </a:r>
          </a:p>
          <a:p>
            <a:pPr algn="l">
              <a:spcAft>
                <a:spcPts val="300"/>
              </a:spcAft>
            </a:pPr>
            <a:r>
              <a:rPr sz="1100" b="0">
                <a:solidFill>
                  <a:srgbClr val="5B6372"/>
                </a:solidFill>
                <a:latin typeface="Arial"/>
              </a:rPr>
              <a:t>Brainstorming, mind mapping, sketchstorm, analogies and gamestorming; then dot voting or a Now-Wow-How matrix to select.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Prototype tools</a:t>
            </a:r>
          </a:p>
          <a:p>
            <a:pPr algn="l">
              <a:spcAft>
                <a:spcPts val="300"/>
              </a:spcAft>
            </a:pPr>
            <a:r>
              <a:rPr sz="1100" b="0">
                <a:solidFill>
                  <a:srgbClr val="5B6372"/>
                </a:solidFill>
                <a:latin typeface="Arial"/>
              </a:rPr>
              <a:t>Low- and high-fidelity prototypes: paper sketches, storyboards, wireframes, cardboard and clay models.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Test tools</a:t>
            </a:r>
          </a:p>
          <a:p>
            <a:pPr algn="l">
              <a:spcAft>
                <a:spcPts val="300"/>
              </a:spcAft>
            </a:pPr>
            <a:r>
              <a:rPr sz="1100" b="0">
                <a:solidFill>
                  <a:srgbClr val="5B6372"/>
                </a:solidFill>
                <a:latin typeface="Arial"/>
              </a:rPr>
              <a:t>User test scripts, feedback grids, evaluation matrices and A/B comparison of alternative prototypes.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Measuring outcomes</a:t>
            </a:r>
          </a:p>
          <a:p>
            <a:pPr algn="l">
              <a:spcAft>
                <a:spcPts val="300"/>
              </a:spcAft>
            </a:pPr>
            <a:r>
              <a:rPr sz="1100" b="0">
                <a:solidFill>
                  <a:srgbClr val="5B6372"/>
                </a:solidFill>
                <a:latin typeface="Arial"/>
              </a:rPr>
              <a:t>Traditional KPIs, customer feedback (CSAT/NPS), design-thinking activity metrics and business-value/novelty mapping.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THE TOOLKIT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Methods by Action Phase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Empathize</a:t>
            </a:r>
          </a:p>
          <a:p>
            <a:pPr algn="l">
              <a:spcAft>
                <a:spcPts val="300"/>
              </a:spcAft>
            </a:pPr>
            <a:r>
              <a:rPr sz="1100" b="0">
                <a:solidFill>
                  <a:srgbClr val="5B6372"/>
                </a:solidFill>
                <a:latin typeface="Arial"/>
              </a:rPr>
              <a:t>Empathy map · Persona map · Journey map · Interviews · Bodystorming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Define</a:t>
            </a:r>
          </a:p>
          <a:p>
            <a:pPr algn="l">
              <a:spcAft>
                <a:spcPts val="300"/>
              </a:spcAft>
            </a:pPr>
            <a:r>
              <a:rPr sz="1100" b="0">
                <a:solidFill>
                  <a:srgbClr val="5B6372"/>
                </a:solidFill>
                <a:latin typeface="Arial"/>
              </a:rPr>
              <a:t>POV statement · How Might We · Why-how laddering · Business Model Canvas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Ideate</a:t>
            </a:r>
          </a:p>
          <a:p>
            <a:pPr algn="l">
              <a:spcAft>
                <a:spcPts val="300"/>
              </a:spcAft>
            </a:pPr>
            <a:r>
              <a:rPr sz="1100" b="0">
                <a:solidFill>
                  <a:srgbClr val="5B6372"/>
                </a:solidFill>
                <a:latin typeface="Arial"/>
              </a:rPr>
              <a:t>Brainstorm · Mind map · Sketchstorm · Analogies · Gamestorming · Dot voting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Prototype</a:t>
            </a:r>
          </a:p>
          <a:p>
            <a:pPr algn="l">
              <a:spcAft>
                <a:spcPts val="300"/>
              </a:spcAft>
            </a:pPr>
            <a:r>
              <a:rPr sz="1100" b="0">
                <a:solidFill>
                  <a:srgbClr val="5B6372"/>
                </a:solidFill>
                <a:latin typeface="Arial"/>
              </a:rPr>
              <a:t>Sketches · Storyboards · Wireframes · Paper and 3D models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Test</a:t>
            </a:r>
          </a:p>
          <a:p>
            <a:pPr algn="l">
              <a:spcAft>
                <a:spcPts val="300"/>
              </a:spcAft>
            </a:pPr>
            <a:r>
              <a:rPr sz="1100" b="0">
                <a:solidFill>
                  <a:srgbClr val="5B6372"/>
                </a:solidFill>
                <a:latin typeface="Arial"/>
              </a:rPr>
              <a:t>User test scripts · Feedback grids · Evaluation matrix · A/B comparison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Measure</a:t>
            </a:r>
          </a:p>
          <a:p>
            <a:pPr algn="l">
              <a:spcAft>
                <a:spcPts val="300"/>
              </a:spcAft>
            </a:pPr>
            <a:r>
              <a:rPr sz="1100" b="0">
                <a:solidFill>
                  <a:srgbClr val="5B6372"/>
                </a:solidFill>
                <a:latin typeface="Arial"/>
              </a:rPr>
              <a:t>KPIs · CSAT and NPS · Activity metrics · Business value vs novelty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EMPATHIZE TOOL</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The Empathy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1828800"/>
            <a:ext cx="4251960" cy="2011680"/>
          </a:xfrm>
          <a:prstGeom prst="rect">
            <a:avLst/>
          </a:prstGeom>
          <a:solidFill>
            <a:srgbClr val="F5F8F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0" y="1828800"/>
            <a:ext cx="42519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84832" y="2057400"/>
            <a:ext cx="3739896" cy="457200"/>
          </a:xfrm>
          <a:prstGeom prst="rect">
            <a:avLst/>
          </a:prstGeom>
          <a:noFill/>
        </p:spPr>
        <p:txBody>
          <a:bodyPr wrap="square" anchor="t">
            <a:spAutoFit/>
          </a:bodyPr>
          <a:lstStyle/>
          <a:p>
            <a:pPr algn="l">
              <a:spcAft>
                <a:spcPts val="400"/>
              </a:spcAft>
            </a:pPr>
            <a:r>
              <a:rPr sz="1700" b="1">
                <a:solidFill>
                  <a:srgbClr val="1F6FEB"/>
                </a:solidFill>
                <a:latin typeface="Arial"/>
              </a:rPr>
              <a:t>SAYS</a:t>
            </a:r>
          </a:p>
        </p:txBody>
      </p:sp>
      <p:sp>
        <p:nvSpPr>
          <p:cNvPr id="10" name="TextBox 9"/>
          <p:cNvSpPr txBox="1"/>
          <p:nvPr/>
        </p:nvSpPr>
        <p:spPr>
          <a:xfrm>
            <a:off x="2084832" y="2560320"/>
            <a:ext cx="3739896" cy="1188720"/>
          </a:xfrm>
          <a:prstGeom prst="rect">
            <a:avLst/>
          </a:prstGeom>
          <a:noFill/>
        </p:spPr>
        <p:txBody>
          <a:bodyPr wrap="square" anchor="t">
            <a:spAutoFit/>
          </a:bodyPr>
          <a:lstStyle/>
          <a:p>
            <a:pPr algn="l">
              <a:spcAft>
                <a:spcPts val="400"/>
              </a:spcAft>
            </a:pPr>
            <a:r>
              <a:rPr sz="1250" b="0">
                <a:solidFill>
                  <a:srgbClr val="5B6372"/>
                </a:solidFill>
                <a:latin typeface="Arial"/>
              </a:rPr>
              <a:t>Direct, verbatim quotes from the interview. Don't paraphrase — the exact words carry the insight.</a:t>
            </a:r>
          </a:p>
        </p:txBody>
      </p:sp>
      <p:sp>
        <p:nvSpPr>
          <p:cNvPr id="11" name="Rectangle 10"/>
          <p:cNvSpPr/>
          <p:nvPr/>
        </p:nvSpPr>
        <p:spPr>
          <a:xfrm>
            <a:off x="6080760" y="1828800"/>
            <a:ext cx="4251960" cy="2011680"/>
          </a:xfrm>
          <a:prstGeom prst="rect">
            <a:avLst/>
          </a:prstGeom>
          <a:solidFill>
            <a:srgbClr val="F5F8F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80760" y="1828800"/>
            <a:ext cx="42519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2057400"/>
            <a:ext cx="3739896" cy="457200"/>
          </a:xfrm>
          <a:prstGeom prst="rect">
            <a:avLst/>
          </a:prstGeom>
          <a:noFill/>
        </p:spPr>
        <p:txBody>
          <a:bodyPr wrap="square" anchor="t">
            <a:spAutoFit/>
          </a:bodyPr>
          <a:lstStyle/>
          <a:p>
            <a:pPr algn="l">
              <a:spcAft>
                <a:spcPts val="400"/>
              </a:spcAft>
            </a:pPr>
            <a:r>
              <a:rPr sz="1700" b="1">
                <a:solidFill>
                  <a:srgbClr val="10B981"/>
                </a:solidFill>
                <a:latin typeface="Arial"/>
              </a:rPr>
              <a:t>THINKS</a:t>
            </a:r>
          </a:p>
        </p:txBody>
      </p:sp>
      <p:sp>
        <p:nvSpPr>
          <p:cNvPr id="14" name="TextBox 13"/>
          <p:cNvSpPr txBox="1"/>
          <p:nvPr/>
        </p:nvSpPr>
        <p:spPr>
          <a:xfrm>
            <a:off x="6336792" y="2560320"/>
            <a:ext cx="3739896" cy="1188720"/>
          </a:xfrm>
          <a:prstGeom prst="rect">
            <a:avLst/>
          </a:prstGeom>
          <a:noFill/>
        </p:spPr>
        <p:txBody>
          <a:bodyPr wrap="square" anchor="t">
            <a:spAutoFit/>
          </a:bodyPr>
          <a:lstStyle/>
          <a:p>
            <a:pPr algn="l">
              <a:spcAft>
                <a:spcPts val="400"/>
              </a:spcAft>
            </a:pPr>
            <a:r>
              <a:rPr sz="1250" b="0">
                <a:solidFill>
                  <a:srgbClr val="5B6372"/>
                </a:solidFill>
                <a:latin typeface="Arial"/>
              </a:rPr>
              <a:t>What the user is thinking but not saying out loud. Worries, doubts, judgements.</a:t>
            </a:r>
          </a:p>
        </p:txBody>
      </p:sp>
      <p:sp>
        <p:nvSpPr>
          <p:cNvPr id="15" name="Rectangle 14"/>
          <p:cNvSpPr/>
          <p:nvPr/>
        </p:nvSpPr>
        <p:spPr>
          <a:xfrm>
            <a:off x="1828800" y="3840480"/>
            <a:ext cx="4251960" cy="2011680"/>
          </a:xfrm>
          <a:prstGeom prst="rect">
            <a:avLst/>
          </a:prstGeom>
          <a:solidFill>
            <a:srgbClr val="F5F8F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0" y="3840480"/>
            <a:ext cx="42519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84832" y="4407408"/>
            <a:ext cx="3739896" cy="457200"/>
          </a:xfrm>
          <a:prstGeom prst="rect">
            <a:avLst/>
          </a:prstGeom>
          <a:noFill/>
        </p:spPr>
        <p:txBody>
          <a:bodyPr wrap="square" anchor="t">
            <a:spAutoFit/>
          </a:bodyPr>
          <a:lstStyle/>
          <a:p>
            <a:pPr algn="l">
              <a:spcAft>
                <a:spcPts val="400"/>
              </a:spcAft>
            </a:pPr>
            <a:r>
              <a:rPr sz="1700" b="1">
                <a:solidFill>
                  <a:srgbClr val="7C3AED"/>
                </a:solidFill>
                <a:latin typeface="Arial"/>
              </a:rPr>
              <a:t>DOES</a:t>
            </a:r>
          </a:p>
        </p:txBody>
      </p:sp>
      <p:sp>
        <p:nvSpPr>
          <p:cNvPr id="18" name="TextBox 17"/>
          <p:cNvSpPr txBox="1"/>
          <p:nvPr/>
        </p:nvSpPr>
        <p:spPr>
          <a:xfrm>
            <a:off x="2084832" y="4910328"/>
            <a:ext cx="3739896" cy="1188720"/>
          </a:xfrm>
          <a:prstGeom prst="rect">
            <a:avLst/>
          </a:prstGeom>
          <a:noFill/>
        </p:spPr>
        <p:txBody>
          <a:bodyPr wrap="square" anchor="t">
            <a:spAutoFit/>
          </a:bodyPr>
          <a:lstStyle/>
          <a:p>
            <a:pPr algn="l">
              <a:spcAft>
                <a:spcPts val="400"/>
              </a:spcAft>
            </a:pPr>
            <a:r>
              <a:rPr sz="1250" b="0">
                <a:solidFill>
                  <a:srgbClr val="5B6372"/>
                </a:solidFill>
                <a:latin typeface="Arial"/>
              </a:rPr>
              <a:t>The observable actions: what they actually do, where, and how long it takes.</a:t>
            </a:r>
          </a:p>
        </p:txBody>
      </p:sp>
      <p:sp>
        <p:nvSpPr>
          <p:cNvPr id="19" name="Rectangle 18"/>
          <p:cNvSpPr/>
          <p:nvPr/>
        </p:nvSpPr>
        <p:spPr>
          <a:xfrm>
            <a:off x="6080760" y="3840480"/>
            <a:ext cx="4251960" cy="2011680"/>
          </a:xfrm>
          <a:prstGeom prst="rect">
            <a:avLst/>
          </a:prstGeom>
          <a:solidFill>
            <a:srgbClr val="F5F8F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80760" y="3840480"/>
            <a:ext cx="425196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792" y="4407408"/>
            <a:ext cx="3739896" cy="457200"/>
          </a:xfrm>
          <a:prstGeom prst="rect">
            <a:avLst/>
          </a:prstGeom>
          <a:noFill/>
        </p:spPr>
        <p:txBody>
          <a:bodyPr wrap="square" anchor="t">
            <a:spAutoFit/>
          </a:bodyPr>
          <a:lstStyle/>
          <a:p>
            <a:pPr algn="l">
              <a:spcAft>
                <a:spcPts val="400"/>
              </a:spcAft>
            </a:pPr>
            <a:r>
              <a:rPr sz="1700" b="1">
                <a:solidFill>
                  <a:srgbClr val="F59E0B"/>
                </a:solidFill>
                <a:latin typeface="Arial"/>
              </a:rPr>
              <a:t>FEELS</a:t>
            </a:r>
          </a:p>
        </p:txBody>
      </p:sp>
      <p:sp>
        <p:nvSpPr>
          <p:cNvPr id="22" name="TextBox 21"/>
          <p:cNvSpPr txBox="1"/>
          <p:nvPr/>
        </p:nvSpPr>
        <p:spPr>
          <a:xfrm>
            <a:off x="6336792" y="4910328"/>
            <a:ext cx="3739896" cy="1188720"/>
          </a:xfrm>
          <a:prstGeom prst="rect">
            <a:avLst/>
          </a:prstGeom>
          <a:noFill/>
        </p:spPr>
        <p:txBody>
          <a:bodyPr wrap="square" anchor="t">
            <a:spAutoFit/>
          </a:bodyPr>
          <a:lstStyle/>
          <a:p>
            <a:pPr algn="l">
              <a:spcAft>
                <a:spcPts val="400"/>
              </a:spcAft>
            </a:pPr>
            <a:r>
              <a:rPr sz="1250" b="0">
                <a:solidFill>
                  <a:srgbClr val="5B6372"/>
                </a:solidFill>
                <a:latin typeface="Arial"/>
              </a:rPr>
              <a:t>The emotional state and its intensity: anxious, rushed, proud, relieved.</a:t>
            </a:r>
          </a:p>
        </p:txBody>
      </p:sp>
      <p:sp>
        <p:nvSpPr>
          <p:cNvPr id="23" name="Oval 22"/>
          <p:cNvSpPr/>
          <p:nvPr/>
        </p:nvSpPr>
        <p:spPr>
          <a:xfrm>
            <a:off x="5600700" y="3360420"/>
            <a:ext cx="960120" cy="960120"/>
          </a:xfrm>
          <a:prstGeom prst="ellipse">
            <a:avLst/>
          </a:prstGeom>
          <a:solidFill>
            <a:srgbClr val="1F6FEB"/>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00700" y="3360420"/>
            <a:ext cx="960120" cy="960120"/>
          </a:xfrm>
          <a:prstGeom prst="rect">
            <a:avLst/>
          </a:prstGeom>
          <a:noFill/>
        </p:spPr>
        <p:txBody>
          <a:bodyPr wrap="square" anchor="ctr">
            <a:spAutoFit/>
          </a:bodyPr>
          <a:lstStyle/>
          <a:p>
            <a:pPr algn="ctr">
              <a:spcAft>
                <a:spcPts val="400"/>
              </a:spcAft>
            </a:pPr>
            <a:r>
              <a:rPr sz="1200" b="1">
                <a:solidFill>
                  <a:srgbClr val="FFFFFF"/>
                </a:solidFill>
                <a:latin typeface="Arial"/>
              </a:rPr>
              <a:t>USER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GUIDELINES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Reading an Empathy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Look for contradictions</a:t>
            </a:r>
          </a:p>
          <a:p>
            <a:pPr algn="l">
              <a:spcAft>
                <a:spcPts val="300"/>
              </a:spcAft>
            </a:pPr>
            <a:r>
              <a:rPr sz="1200" b="0">
                <a:solidFill>
                  <a:srgbClr val="5B6372"/>
                </a:solidFill>
                <a:latin typeface="Arial"/>
              </a:rPr>
              <a:t>A positive quote beside a negative feeling is where the real insight hides.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Users are complex</a:t>
            </a:r>
          </a:p>
          <a:p>
            <a:pPr algn="l">
              <a:spcAft>
                <a:spcPts val="300"/>
              </a:spcAft>
            </a:pPr>
            <a:r>
              <a:rPr sz="1200" b="0">
                <a:solidFill>
                  <a:srgbClr val="5B6372"/>
                </a:solidFill>
                <a:latin typeface="Arial"/>
              </a:rPr>
              <a:t>Juxtaposition between quadrants is normal — and extremely useful.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Quote, don't summarise</a:t>
            </a:r>
          </a:p>
          <a:p>
            <a:pPr algn="l">
              <a:spcAft>
                <a:spcPts val="300"/>
              </a:spcAft>
            </a:pPr>
            <a:r>
              <a:rPr sz="1200" b="0">
                <a:solidFill>
                  <a:srgbClr val="5B6372"/>
                </a:solidFill>
                <a:latin typeface="Arial"/>
              </a:rPr>
              <a:t>Verbatim language keeps the user's meaning intact.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Turn it into a persona</a:t>
            </a:r>
          </a:p>
          <a:p>
            <a:pPr algn="l">
              <a:spcAft>
                <a:spcPts val="300"/>
              </a:spcAft>
            </a:pPr>
            <a:r>
              <a:rPr sz="1200" b="0">
                <a:solidFill>
                  <a:srgbClr val="5B6372"/>
                </a:solidFill>
                <a:latin typeface="Arial"/>
              </a:rPr>
              <a:t>Distil the map into a named persona with goals, frustrations and a defining quote.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EMPATHIZE TOOLS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Persona &amp; Journey Mapping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Persona mapping</a:t>
            </a:r>
          </a:p>
          <a:p>
            <a:pPr algn="l">
              <a:spcAft>
                <a:spcPts val="300"/>
              </a:spcAft>
            </a:pPr>
            <a:r>
              <a:rPr sz="1200" b="0">
                <a:solidFill>
                  <a:srgbClr val="5B6372"/>
                </a:solidFill>
                <a:latin typeface="Arial"/>
              </a:rPr>
              <a:t>Identify who your customers are and how they make decisions, then design for that specific person.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Journey mapping</a:t>
            </a:r>
          </a:p>
          <a:p>
            <a:pPr algn="l">
              <a:spcAft>
                <a:spcPts val="300"/>
              </a:spcAft>
            </a:pPr>
            <a:r>
              <a:rPr sz="1200" b="0">
                <a:solidFill>
                  <a:srgbClr val="5B6372"/>
                </a:solidFill>
                <a:latin typeface="Arial"/>
              </a:rPr>
              <a:t>Chart every touchpoint over time — before, during and after the core interaction.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Find the pain points</a:t>
            </a:r>
          </a:p>
          <a:p>
            <a:pPr algn="l">
              <a:spcAft>
                <a:spcPts val="300"/>
              </a:spcAft>
            </a:pPr>
            <a:r>
              <a:rPr sz="1200" b="0">
                <a:solidFill>
                  <a:srgbClr val="5B6372"/>
                </a:solidFill>
                <a:latin typeface="Arial"/>
              </a:rPr>
              <a:t>The journey map exposes where the experience breaks down.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Find the moments that matter</a:t>
            </a:r>
          </a:p>
          <a:p>
            <a:pPr algn="l">
              <a:spcAft>
                <a:spcPts val="300"/>
              </a:spcAft>
            </a:pPr>
            <a:r>
              <a:rPr sz="1200" b="0">
                <a:solidFill>
                  <a:srgbClr val="5B6372"/>
                </a:solidFill>
                <a:latin typeface="Arial"/>
              </a:rPr>
              <a:t>Not every touchpoint is equal — some disproportionately shape the whole experience.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TOOL</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Point of View — The POV Formula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3337560"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53288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886968" y="3474720"/>
            <a:ext cx="3118104" cy="457200"/>
          </a:xfrm>
          <a:prstGeom prst="rect">
            <a:avLst/>
          </a:prstGeom>
          <a:noFill/>
        </p:spPr>
        <p:txBody>
          <a:bodyPr wrap="square" anchor="t">
            <a:spAutoFit/>
          </a:bodyPr>
          <a:lstStyle/>
          <a:p>
            <a:pPr algn="ctr">
              <a:spcAft>
                <a:spcPts val="400"/>
              </a:spcAft>
            </a:pPr>
            <a:r>
              <a:rPr sz="1700" b="1">
                <a:solidFill>
                  <a:srgbClr val="1F6FEB"/>
                </a:solidFill>
                <a:latin typeface="Arial"/>
              </a:rPr>
              <a:t>USER</a:t>
            </a:r>
          </a:p>
        </p:txBody>
      </p:sp>
      <p:sp>
        <p:nvSpPr>
          <p:cNvPr id="12" name="TextBox 11"/>
          <p:cNvSpPr txBox="1"/>
          <p:nvPr/>
        </p:nvSpPr>
        <p:spPr>
          <a:xfrm>
            <a:off x="905256" y="3977640"/>
            <a:ext cx="3081528" cy="1188720"/>
          </a:xfrm>
          <a:prstGeom prst="rect">
            <a:avLst/>
          </a:prstGeom>
          <a:noFill/>
        </p:spPr>
        <p:txBody>
          <a:bodyPr wrap="square" anchor="t">
            <a:spAutoFit/>
          </a:bodyPr>
          <a:lstStyle/>
          <a:p>
            <a:pPr algn="ctr">
              <a:spcAft>
                <a:spcPts val="400"/>
              </a:spcAft>
            </a:pPr>
            <a:r>
              <a:rPr sz="1300" b="0">
                <a:solidFill>
                  <a:srgbClr val="161B26"/>
                </a:solidFill>
                <a:latin typeface="Arial"/>
              </a:rPr>
              <a:t>The specific person you are designing for — not 'everyone'.</a:t>
            </a:r>
          </a:p>
        </p:txBody>
      </p:sp>
      <p:sp>
        <p:nvSpPr>
          <p:cNvPr id="13" name="TextBox 12"/>
          <p:cNvSpPr txBox="1"/>
          <p:nvPr/>
        </p:nvSpPr>
        <p:spPr>
          <a:xfrm>
            <a:off x="4078224" y="347472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4" name="Rectangle 13"/>
          <p:cNvSpPr/>
          <p:nvPr/>
        </p:nvSpPr>
        <p:spPr>
          <a:xfrm>
            <a:off x="4425696" y="2148840"/>
            <a:ext cx="3337560"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25696" y="2148840"/>
            <a:ext cx="33375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19572" y="253288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19572"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8" name="TextBox 17"/>
          <p:cNvSpPr txBox="1"/>
          <p:nvPr/>
        </p:nvSpPr>
        <p:spPr>
          <a:xfrm>
            <a:off x="4535424" y="3474720"/>
            <a:ext cx="3118104" cy="457200"/>
          </a:xfrm>
          <a:prstGeom prst="rect">
            <a:avLst/>
          </a:prstGeom>
          <a:noFill/>
        </p:spPr>
        <p:txBody>
          <a:bodyPr wrap="square" anchor="t">
            <a:spAutoFit/>
          </a:bodyPr>
          <a:lstStyle/>
          <a:p>
            <a:pPr algn="ctr">
              <a:spcAft>
                <a:spcPts val="400"/>
              </a:spcAft>
            </a:pPr>
            <a:r>
              <a:rPr sz="1700" b="1">
                <a:solidFill>
                  <a:srgbClr val="10B981"/>
                </a:solidFill>
                <a:latin typeface="Arial"/>
              </a:rPr>
              <a:t>NEED</a:t>
            </a:r>
          </a:p>
        </p:txBody>
      </p:sp>
      <p:sp>
        <p:nvSpPr>
          <p:cNvPr id="19" name="TextBox 18"/>
          <p:cNvSpPr txBox="1"/>
          <p:nvPr/>
        </p:nvSpPr>
        <p:spPr>
          <a:xfrm>
            <a:off x="4553712" y="3977640"/>
            <a:ext cx="3081528" cy="1188720"/>
          </a:xfrm>
          <a:prstGeom prst="rect">
            <a:avLst/>
          </a:prstGeom>
          <a:noFill/>
        </p:spPr>
        <p:txBody>
          <a:bodyPr wrap="square" anchor="t">
            <a:spAutoFit/>
          </a:bodyPr>
          <a:lstStyle/>
          <a:p>
            <a:pPr algn="ctr">
              <a:spcAft>
                <a:spcPts val="400"/>
              </a:spcAft>
            </a:pPr>
            <a:r>
              <a:rPr sz="1300" b="0">
                <a:solidFill>
                  <a:srgbClr val="161B26"/>
                </a:solidFill>
                <a:latin typeface="Arial"/>
              </a:rPr>
              <a:t>What they need to be able to do. Always a verb, never a solution.</a:t>
            </a:r>
          </a:p>
        </p:txBody>
      </p:sp>
      <p:sp>
        <p:nvSpPr>
          <p:cNvPr id="20" name="TextBox 19"/>
          <p:cNvSpPr txBox="1"/>
          <p:nvPr/>
        </p:nvSpPr>
        <p:spPr>
          <a:xfrm>
            <a:off x="7726680" y="347472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74152" y="2148840"/>
            <a:ext cx="3337560"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74152" y="214884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68028" y="253288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68028"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5" name="TextBox 24"/>
          <p:cNvSpPr txBox="1"/>
          <p:nvPr/>
        </p:nvSpPr>
        <p:spPr>
          <a:xfrm>
            <a:off x="8183880" y="3474720"/>
            <a:ext cx="3118104" cy="457200"/>
          </a:xfrm>
          <a:prstGeom prst="rect">
            <a:avLst/>
          </a:prstGeom>
          <a:noFill/>
        </p:spPr>
        <p:txBody>
          <a:bodyPr wrap="square" anchor="t">
            <a:spAutoFit/>
          </a:bodyPr>
          <a:lstStyle/>
          <a:p>
            <a:pPr algn="ctr">
              <a:spcAft>
                <a:spcPts val="400"/>
              </a:spcAft>
            </a:pPr>
            <a:r>
              <a:rPr sz="1700" b="1">
                <a:solidFill>
                  <a:srgbClr val="7C3AED"/>
                </a:solidFill>
                <a:latin typeface="Arial"/>
              </a:rPr>
              <a:t>INSIGHT</a:t>
            </a:r>
          </a:p>
        </p:txBody>
      </p:sp>
      <p:sp>
        <p:nvSpPr>
          <p:cNvPr id="26" name="TextBox 25"/>
          <p:cNvSpPr txBox="1"/>
          <p:nvPr/>
        </p:nvSpPr>
        <p:spPr>
          <a:xfrm>
            <a:off x="8202168" y="3977640"/>
            <a:ext cx="3081528" cy="1188720"/>
          </a:xfrm>
          <a:prstGeom prst="rect">
            <a:avLst/>
          </a:prstGeom>
          <a:noFill/>
        </p:spPr>
        <p:txBody>
          <a:bodyPr wrap="square" anchor="t">
            <a:spAutoFit/>
          </a:bodyPr>
          <a:lstStyle/>
          <a:p>
            <a:pPr algn="ctr">
              <a:spcAft>
                <a:spcPts val="400"/>
              </a:spcAft>
            </a:pPr>
            <a:r>
              <a:rPr sz="1300" b="0">
                <a:solidFill>
                  <a:srgbClr val="161B26"/>
                </a:solidFill>
                <a:latin typeface="Arial"/>
              </a:rPr>
              <a:t>The surprising discovery that explains the need.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TOOL</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POV Examples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Example 1</a:t>
            </a:r>
          </a:p>
          <a:p>
            <a:pPr algn="l">
              <a:spcAft>
                <a:spcPts val="300"/>
              </a:spcAft>
            </a:pPr>
            <a:r>
              <a:rPr sz="1100" b="0">
                <a:solidFill>
                  <a:srgbClr val="5B6372"/>
                </a:solidFill>
                <a:latin typeface="Arial"/>
              </a:rPr>
              <a:t>A busy working mom needs a way to bring bags with her when away from home, because she buys the equivalent of three dog-poop bags a day.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Example 2</a:t>
            </a:r>
          </a:p>
          <a:p>
            <a:pPr algn="l">
              <a:spcAft>
                <a:spcPts val="300"/>
              </a:spcAft>
            </a:pPr>
            <a:r>
              <a:rPr sz="1100" b="0">
                <a:solidFill>
                  <a:srgbClr val="5B6372"/>
                </a:solidFill>
                <a:latin typeface="Arial"/>
              </a:rPr>
              <a:t>A teacher needs a way to clean and store used sandwich bags at school, because he discards a new bag each morning rather than washing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template</a:t>
            </a:r>
          </a:p>
          <a:p>
            <a:pPr algn="l">
              <a:spcAft>
                <a:spcPts val="300"/>
              </a:spcAft>
            </a:pPr>
            <a:r>
              <a:rPr sz="1100" b="0">
                <a:solidFill>
                  <a:srgbClr val="5B6372"/>
                </a:solidFill>
                <a:latin typeface="Arial"/>
              </a:rPr>
              <a:t>[USER] needs a way to [USER'S NEED] because [INSIGHT].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State your assumptions</a:t>
            </a:r>
          </a:p>
          <a:p>
            <a:pPr algn="l">
              <a:spcAft>
                <a:spcPts val="300"/>
              </a:spcAft>
            </a:pPr>
            <a:r>
              <a:rPr sz="1100" b="0">
                <a:solidFill>
                  <a:srgbClr val="5B6372"/>
                </a:solidFill>
                <a:latin typeface="Arial"/>
              </a:rPr>
              <a:t>Write down what must be true for the POV to hold — then test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IDEATE TOOLS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Ideation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Generate</a:t>
            </a:r>
          </a:p>
          <a:p>
            <a:pPr algn="l">
              <a:spcAft>
                <a:spcPts val="300"/>
              </a:spcAft>
            </a:pPr>
            <a:r>
              <a:rPr sz="1100" b="0">
                <a:solidFill>
                  <a:srgbClr val="5B6372"/>
                </a:solidFill>
                <a:latin typeface="Arial"/>
              </a:rPr>
              <a:t>Brainstorm · Mind map · Sketchstorm · Storyboard · Analogies · Provocation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 further</a:t>
            </a:r>
          </a:p>
          <a:p>
            <a:pPr algn="l">
              <a:spcAft>
                <a:spcPts val="300"/>
              </a:spcAft>
            </a:pPr>
            <a:r>
              <a:rPr sz="1100" b="0">
                <a:solidFill>
                  <a:srgbClr val="5B6372"/>
                </a:solidFill>
                <a:latin typeface="Arial"/>
              </a:rPr>
              <a:t>Bodystorm · Gamestorming · Cheatstorm · Crowdstorm · Co-creation workshops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Brainstorm rules</a:t>
            </a:r>
          </a:p>
          <a:p>
            <a:pPr algn="l">
              <a:spcAft>
                <a:spcPts val="300"/>
              </a:spcAft>
            </a:pPr>
            <a:r>
              <a:rPr sz="1100" b="0">
                <a:solidFill>
                  <a:srgbClr val="5B6372"/>
                </a:solidFill>
                <a:latin typeface="Arial"/>
              </a:rPr>
              <a:t>Set a mission · Limit the time · Defer judgement · Build on ideas · Go for volume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Select the best</a:t>
            </a:r>
          </a:p>
          <a:p>
            <a:pPr algn="l">
              <a:spcAft>
                <a:spcPts val="300"/>
              </a:spcAft>
            </a:pPr>
            <a:r>
              <a:rPr sz="1100" b="0">
                <a:solidFill>
                  <a:srgbClr val="5B6372"/>
                </a:solidFill>
                <a:latin typeface="Arial"/>
              </a:rPr>
              <a:t>Dot voting · Four categories · Bingo selection · Affinity maps · Now-Wow-How matrix</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Remember</a:t>
            </a:r>
          </a:p>
          <a:p>
            <a:pPr algn="l">
              <a:spcAft>
                <a:spcPts val="300"/>
              </a:spcAft>
            </a:pPr>
            <a:r>
              <a:rPr sz="1100" b="0">
                <a:solidFill>
                  <a:srgbClr val="5B6372"/>
                </a:solidFill>
                <a:latin typeface="Arial"/>
              </a:rPr>
              <a:t>10 ideas beat 3. 200 ideas beat 50. Quantity breeds quality.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Mind mapping</a:t>
            </a:r>
          </a:p>
          <a:p>
            <a:pPr algn="l">
              <a:spcAft>
                <a:spcPts val="300"/>
              </a:spcAft>
            </a:pPr>
            <a:r>
              <a:rPr sz="1100" b="0">
                <a:solidFill>
                  <a:srgbClr val="5B6372"/>
                </a:solidFill>
                <a:latin typeface="Arial"/>
              </a:rPr>
              <a:t>Start from the central problem and branch outwards to see connections you'd otherwise miss.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PROTOTYPE TOOLS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Low- vs High-Fidelity Prototyping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Start here</a:t>
            </a:r>
          </a:p>
        </p:txBody>
      </p:sp>
      <p:sp>
        <p:nvSpPr>
          <p:cNvPr id="12" name="TextBox 11"/>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Later</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b="0">
                <a:solidFill>
                  <a:srgbClr val="161B26"/>
                </a:solidFill>
                <a:latin typeface="Arial"/>
              </a:rPr>
              <a:t>•  Low fidelity</a:t>
            </a:r>
          </a:p>
          <a:p>
            <a:pPr>
              <a:spcAft>
                <a:spcPts val="1000"/>
              </a:spcAft>
            </a:pPr>
            <a:r>
              <a:rPr sz="1300" b="0">
                <a:solidFill>
                  <a:srgbClr val="5B6372"/>
                </a:solidFill>
                <a:latin typeface="Arial"/>
              </a:rPr>
              <a:t>–  Paper sketches and storyboards</a:t>
            </a:r>
          </a:p>
          <a:p>
            <a:pPr>
              <a:spcAft>
                <a:spcPts val="1000"/>
              </a:spcAft>
            </a:pPr>
            <a:r>
              <a:rPr sz="1300" b="0">
                <a:solidFill>
                  <a:srgbClr val="5B6372"/>
                </a:solidFill>
                <a:latin typeface="Arial"/>
              </a:rPr>
              <a:t>–  Cardboard, foam, clay, building blocks</a:t>
            </a:r>
          </a:p>
          <a:p>
            <a:pPr>
              <a:spcAft>
                <a:spcPts val="1000"/>
              </a:spcAft>
            </a:pPr>
            <a:r>
              <a:rPr sz="1300" b="0">
                <a:solidFill>
                  <a:srgbClr val="5B6372"/>
                </a:solidFill>
                <a:latin typeface="Arial"/>
              </a:rPr>
              <a:t>–  Fast, cheap, easy to throw away</a:t>
            </a:r>
          </a:p>
          <a:p>
            <a:pPr>
              <a:spcAft>
                <a:spcPts val="1000"/>
              </a:spcAft>
            </a:pPr>
            <a:r>
              <a:rPr sz="1300" b="0">
                <a:solidFill>
                  <a:srgbClr val="5B6372"/>
                </a:solidFill>
                <a:latin typeface="Arial"/>
              </a:rPr>
              <a:t>–  Use early, to test the concept</a:t>
            </a:r>
          </a:p>
          <a:p>
            <a:pPr>
              <a:spcAft>
                <a:spcPts val="1000"/>
              </a:spcAft>
            </a:pPr>
            <a:r>
              <a:rPr sz="1300" b="0">
                <a:solidFill>
                  <a:srgbClr val="5B6372"/>
                </a:solidFill>
                <a:latin typeface="Arial"/>
              </a:rPr>
              <a:t>–  Invites honest criticism — it clearly isn't finished</a:t>
            </a:r>
          </a:p>
        </p:txBody>
      </p:sp>
      <p:sp>
        <p:nvSpPr>
          <p:cNvPr id="14" name="TextBox 13"/>
          <p:cNvSpPr txBox="1"/>
          <p:nvPr/>
        </p:nvSpPr>
        <p:spPr>
          <a:xfrm>
            <a:off x="6583680" y="2514600"/>
            <a:ext cx="4617720" cy="3383280"/>
          </a:xfrm>
          <a:prstGeom prst="rect">
            <a:avLst/>
          </a:prstGeom>
          <a:noFill/>
        </p:spPr>
        <p:txBody>
          <a:bodyPr wrap="square">
            <a:spAutoFit/>
          </a:bodyPr>
          <a:lstStyle/>
          <a:p>
            <a:pPr>
              <a:spcAft>
                <a:spcPts val="1000"/>
              </a:spcAft>
            </a:pPr>
            <a:r>
              <a:rPr sz="1500" b="0">
                <a:solidFill>
                  <a:srgbClr val="161B26"/>
                </a:solidFill>
                <a:latin typeface="Arial"/>
              </a:rPr>
              <a:t>•  High fidelity</a:t>
            </a:r>
          </a:p>
          <a:p>
            <a:pPr>
              <a:spcAft>
                <a:spcPts val="1000"/>
              </a:spcAft>
            </a:pPr>
            <a:r>
              <a:rPr sz="1300" b="0">
                <a:solidFill>
                  <a:srgbClr val="5B6372"/>
                </a:solidFill>
                <a:latin typeface="Arial"/>
              </a:rPr>
              <a:t>–  Wireframes and interactive mock-ups</a:t>
            </a:r>
          </a:p>
          <a:p>
            <a:pPr>
              <a:spcAft>
                <a:spcPts val="1000"/>
              </a:spcAft>
            </a:pPr>
            <a:r>
              <a:rPr sz="1300" b="0">
                <a:solidFill>
                  <a:srgbClr val="5B6372"/>
                </a:solidFill>
                <a:latin typeface="Arial"/>
              </a:rPr>
              <a:t>–  Near-final materials and finishes</a:t>
            </a:r>
          </a:p>
          <a:p>
            <a:pPr>
              <a:spcAft>
                <a:spcPts val="1000"/>
              </a:spcAft>
            </a:pPr>
            <a:r>
              <a:rPr sz="1300" b="0">
                <a:solidFill>
                  <a:srgbClr val="5B6372"/>
                </a:solidFill>
                <a:latin typeface="Arial"/>
              </a:rPr>
              <a:t>–  Slower and more expensive</a:t>
            </a:r>
          </a:p>
          <a:p>
            <a:pPr>
              <a:spcAft>
                <a:spcPts val="1000"/>
              </a:spcAft>
            </a:pPr>
            <a:r>
              <a:rPr sz="1300" b="0">
                <a:solidFill>
                  <a:srgbClr val="5B6372"/>
                </a:solidFill>
                <a:latin typeface="Arial"/>
              </a:rPr>
              <a:t>–  Use later, to test the detail</a:t>
            </a:r>
          </a:p>
          <a:p>
            <a:pPr>
              <a:spcAft>
                <a:spcPts val="1000"/>
              </a:spcAft>
            </a:pPr>
            <a:r>
              <a:rPr sz="1300" b="0">
                <a:solidFill>
                  <a:srgbClr val="5B6372"/>
                </a:solidFill>
                <a:latin typeface="Arial"/>
              </a:rPr>
              <a:t>–  Risk: people critique the polish, not the idea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TEST TOOLS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Testing Your Prototype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Prototype as if you're right…</a:t>
            </a:r>
          </a:p>
          <a:p>
            <a:pPr algn="l">
              <a:spcAft>
                <a:spcPts val="300"/>
              </a:spcAft>
            </a:pPr>
            <a:r>
              <a:rPr sz="1100" b="0">
                <a:solidFill>
                  <a:srgbClr val="5B6372"/>
                </a:solidFill>
                <a:latin typeface="Arial"/>
              </a:rPr>
              <a:t>…but test as if you know you're wrong.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Find the cheapest test</a:t>
            </a:r>
          </a:p>
          <a:p>
            <a:pPr algn="l">
              <a:spcAft>
                <a:spcPts val="300"/>
              </a:spcAft>
            </a:pPr>
            <a:r>
              <a:rPr sz="1100" b="0">
                <a:solidFill>
                  <a:srgbClr val="5B6372"/>
                </a:solidFill>
                <a:latin typeface="Arial"/>
              </a:rPr>
              <a:t>What is the fastest, cheapest test that could disprove your key assumption?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Define success up front</a:t>
            </a:r>
          </a:p>
          <a:p>
            <a:pPr algn="l">
              <a:spcAft>
                <a:spcPts val="300"/>
              </a:spcAft>
            </a:pPr>
            <a:r>
              <a:rPr sz="1100" b="0">
                <a:solidFill>
                  <a:srgbClr val="5B6372"/>
                </a:solidFill>
                <a:latin typeface="Arial"/>
              </a:rPr>
              <a:t>What metric will tell you it worked — pre-orders, votes, completion rate, smiles?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Let users compare</a:t>
            </a:r>
          </a:p>
          <a:p>
            <a:pPr algn="l">
              <a:spcAft>
                <a:spcPts val="300"/>
              </a:spcAft>
            </a:pPr>
            <a:r>
              <a:rPr sz="1100" b="0">
                <a:solidFill>
                  <a:srgbClr val="5B6372"/>
                </a:solidFill>
                <a:latin typeface="Arial"/>
              </a:rPr>
              <a:t>Offer alternatives so the user can express a preference, not just be polite.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Ask them to think aloud</a:t>
            </a:r>
          </a:p>
          <a:p>
            <a:pPr algn="l">
              <a:spcAft>
                <a:spcPts val="300"/>
              </a:spcAft>
            </a:pPr>
            <a:r>
              <a:rPr sz="1100" b="0">
                <a:solidFill>
                  <a:srgbClr val="5B6372"/>
                </a:solidFill>
                <a:latin typeface="Arial"/>
              </a:rPr>
              <a:t>Narration reveals confusion that observation alone will miss.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Then revise</a:t>
            </a:r>
          </a:p>
          <a:p>
            <a:pPr algn="l">
              <a:spcAft>
                <a:spcPts val="300"/>
              </a:spcAft>
            </a:pPr>
            <a:r>
              <a:rPr sz="1100" b="0">
                <a:solidFill>
                  <a:srgbClr val="5B6372"/>
                </a:solidFill>
                <a:latin typeface="Arial"/>
              </a:rPr>
              <a:t>Revise and advance the idea until it genuinely meets the need.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MEASURE OUTCOMES  ·  A3</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Measuring the Outcome of Design Ideas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Traditional KPIs</a:t>
            </a:r>
          </a:p>
          <a:p>
            <a:pPr algn="l">
              <a:spcAft>
                <a:spcPts val="300"/>
              </a:spcAft>
            </a:pPr>
            <a:r>
              <a:rPr sz="1100" b="0">
                <a:solidFill>
                  <a:srgbClr val="5B6372"/>
                </a:solidFill>
                <a:latin typeface="Arial"/>
              </a:rPr>
              <a:t>Increased sales, ROI per project and other financial measures.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Customer feedback</a:t>
            </a:r>
          </a:p>
          <a:p>
            <a:pPr algn="l">
              <a:spcAft>
                <a:spcPts val="300"/>
              </a:spcAft>
            </a:pPr>
            <a:r>
              <a:rPr sz="1100" b="0">
                <a:solidFill>
                  <a:srgbClr val="5B6372"/>
                </a:solidFill>
                <a:latin typeface="Arial"/>
              </a:rPr>
              <a:t>Customer satisfaction, Net Promoter Score, campaign response, usability metrics.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Design thinking activity</a:t>
            </a:r>
          </a:p>
          <a:p>
            <a:pPr algn="l">
              <a:spcAft>
                <a:spcPts val="300"/>
              </a:spcAft>
            </a:pPr>
            <a:r>
              <a:rPr sz="1100" b="0">
                <a:solidFill>
                  <a:srgbClr val="5B6372"/>
                </a:solidFill>
                <a:latin typeface="Arial"/>
              </a:rPr>
              <a:t>Number of projects run, people trained, coaches developed.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Quick results</a:t>
            </a:r>
          </a:p>
          <a:p>
            <a:pPr algn="l">
              <a:spcAft>
                <a:spcPts val="300"/>
              </a:spcAft>
            </a:pPr>
            <a:r>
              <a:rPr sz="1100" b="0">
                <a:solidFill>
                  <a:srgbClr val="5B6372"/>
                </a:solidFill>
                <a:latin typeface="Arial"/>
              </a:rPr>
              <a:t>Concepts finished, projects launched, funded or in development.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Beyond execution</a:t>
            </a:r>
          </a:p>
          <a:p>
            <a:pPr algn="l">
              <a:spcAft>
                <a:spcPts val="300"/>
              </a:spcAft>
            </a:pPr>
            <a:r>
              <a:rPr sz="1100" b="0">
                <a:solidFill>
                  <a:srgbClr val="5B6372"/>
                </a:solidFill>
                <a:latin typeface="Arial"/>
              </a:rPr>
              <a:t>Track creative behaviours, not only delivery throughput.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Three business drivers</a:t>
            </a:r>
          </a:p>
          <a:p>
            <a:pPr algn="l">
              <a:spcAft>
                <a:spcPts val="300"/>
              </a:spcAft>
            </a:pPr>
            <a:r>
              <a:rPr sz="1100" b="0">
                <a:solidFill>
                  <a:srgbClr val="5B6372"/>
                </a:solidFill>
                <a:latin typeface="Arial"/>
              </a:rPr>
              <a:t>Understand customers better · protect share from disruption · develop innovative team dynamics.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PRIORITISING DESIGN IDEAS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Measuring Business Value and Novelty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77440" y="1874519"/>
            <a:ext cx="3931920" cy="1965960"/>
          </a:xfrm>
          <a:prstGeom prst="rect">
            <a:avLst/>
          </a:prstGeom>
          <a:solidFill>
            <a:srgbClr val="EEF4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78608" y="2057399"/>
            <a:ext cx="3529584" cy="457200"/>
          </a:xfrm>
          <a:prstGeom prst="rect">
            <a:avLst/>
          </a:prstGeom>
          <a:noFill/>
        </p:spPr>
        <p:txBody>
          <a:bodyPr wrap="square" anchor="t">
            <a:spAutoFit/>
          </a:bodyPr>
          <a:lstStyle/>
          <a:p>
            <a:pPr algn="l">
              <a:spcAft>
                <a:spcPts val="400"/>
              </a:spcAft>
            </a:pPr>
            <a:r>
              <a:rPr sz="1600" b="1">
                <a:solidFill>
                  <a:srgbClr val="161B26"/>
                </a:solidFill>
                <a:latin typeface="Arial"/>
              </a:rPr>
              <a:t>Valuable · Novel</a:t>
            </a:r>
          </a:p>
        </p:txBody>
      </p:sp>
      <p:sp>
        <p:nvSpPr>
          <p:cNvPr id="9" name="TextBox 8"/>
          <p:cNvSpPr txBox="1"/>
          <p:nvPr/>
        </p:nvSpPr>
        <p:spPr>
          <a:xfrm>
            <a:off x="2578608" y="2560319"/>
            <a:ext cx="3529584" cy="1188720"/>
          </a:xfrm>
          <a:prstGeom prst="rect">
            <a:avLst/>
          </a:prstGeom>
          <a:noFill/>
        </p:spPr>
        <p:txBody>
          <a:bodyPr wrap="square" anchor="t">
            <a:spAutoFit/>
          </a:bodyPr>
          <a:lstStyle/>
          <a:p>
            <a:pPr algn="l">
              <a:spcAft>
                <a:spcPts val="400"/>
              </a:spcAft>
            </a:pPr>
            <a:r>
              <a:rPr sz="1200" b="0">
                <a:solidFill>
                  <a:srgbClr val="5B6372"/>
                </a:solidFill>
                <a:latin typeface="Arial"/>
              </a:rPr>
              <a:t>The target quadrant — genuinely new and worth doing. Protect and resource these.</a:t>
            </a:r>
          </a:p>
        </p:txBody>
      </p:sp>
      <p:sp>
        <p:nvSpPr>
          <p:cNvPr id="10" name="Rectangle 9"/>
          <p:cNvSpPr/>
          <p:nvPr/>
        </p:nvSpPr>
        <p:spPr>
          <a:xfrm>
            <a:off x="6309360" y="1874519"/>
            <a:ext cx="3931920" cy="1965960"/>
          </a:xfrm>
          <a:prstGeom prst="rect">
            <a:avLst/>
          </a:prstGeom>
          <a:solidFill>
            <a:srgbClr val="E8F7EE"/>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2057399"/>
            <a:ext cx="3529584" cy="457200"/>
          </a:xfrm>
          <a:prstGeom prst="rect">
            <a:avLst/>
          </a:prstGeom>
          <a:noFill/>
        </p:spPr>
        <p:txBody>
          <a:bodyPr wrap="square" anchor="t">
            <a:spAutoFit/>
          </a:bodyPr>
          <a:lstStyle/>
          <a:p>
            <a:pPr algn="l">
              <a:spcAft>
                <a:spcPts val="400"/>
              </a:spcAft>
            </a:pPr>
            <a:r>
              <a:rPr sz="1600" b="1">
                <a:solidFill>
                  <a:srgbClr val="161B26"/>
                </a:solidFill>
                <a:latin typeface="Arial"/>
              </a:rPr>
              <a:t>Valuable · Not novel</a:t>
            </a:r>
          </a:p>
        </p:txBody>
      </p:sp>
      <p:sp>
        <p:nvSpPr>
          <p:cNvPr id="12" name="TextBox 11"/>
          <p:cNvSpPr txBox="1"/>
          <p:nvPr/>
        </p:nvSpPr>
        <p:spPr>
          <a:xfrm>
            <a:off x="6510528" y="2560319"/>
            <a:ext cx="3529584" cy="1188720"/>
          </a:xfrm>
          <a:prstGeom prst="rect">
            <a:avLst/>
          </a:prstGeom>
          <a:noFill/>
        </p:spPr>
        <p:txBody>
          <a:bodyPr wrap="square" anchor="t">
            <a:spAutoFit/>
          </a:bodyPr>
          <a:lstStyle/>
          <a:p>
            <a:pPr algn="l">
              <a:spcAft>
                <a:spcPts val="400"/>
              </a:spcAft>
            </a:pPr>
            <a:r>
              <a:rPr sz="1200" b="0">
                <a:solidFill>
                  <a:srgbClr val="5B6372"/>
                </a:solidFill>
                <a:latin typeface="Arial"/>
              </a:rPr>
              <a:t>Solid incremental improvement. Reliable returns, little differentiation.</a:t>
            </a:r>
          </a:p>
        </p:txBody>
      </p:sp>
      <p:sp>
        <p:nvSpPr>
          <p:cNvPr id="13" name="Rectangle 12"/>
          <p:cNvSpPr/>
          <p:nvPr/>
        </p:nvSpPr>
        <p:spPr>
          <a:xfrm>
            <a:off x="2377440" y="3840479"/>
            <a:ext cx="3931920" cy="1965960"/>
          </a:xfrm>
          <a:prstGeom prst="rect">
            <a:avLst/>
          </a:prstGeom>
          <a:solidFill>
            <a:srgbClr val="F6F7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78608" y="4023359"/>
            <a:ext cx="3529584" cy="457200"/>
          </a:xfrm>
          <a:prstGeom prst="rect">
            <a:avLst/>
          </a:prstGeom>
          <a:noFill/>
        </p:spPr>
        <p:txBody>
          <a:bodyPr wrap="square" anchor="t">
            <a:spAutoFit/>
          </a:bodyPr>
          <a:lstStyle/>
          <a:p>
            <a:pPr algn="l">
              <a:spcAft>
                <a:spcPts val="400"/>
              </a:spcAft>
            </a:pPr>
            <a:r>
              <a:rPr sz="1600" b="1">
                <a:solidFill>
                  <a:srgbClr val="161B26"/>
                </a:solidFill>
                <a:latin typeface="Arial"/>
              </a:rPr>
              <a:t>Not valuable · Novel</a:t>
            </a:r>
          </a:p>
        </p:txBody>
      </p:sp>
      <p:sp>
        <p:nvSpPr>
          <p:cNvPr id="15" name="TextBox 14"/>
          <p:cNvSpPr txBox="1"/>
          <p:nvPr/>
        </p:nvSpPr>
        <p:spPr>
          <a:xfrm>
            <a:off x="2578608" y="4526279"/>
            <a:ext cx="3529584" cy="1188720"/>
          </a:xfrm>
          <a:prstGeom prst="rect">
            <a:avLst/>
          </a:prstGeom>
          <a:noFill/>
        </p:spPr>
        <p:txBody>
          <a:bodyPr wrap="square" anchor="t">
            <a:spAutoFit/>
          </a:bodyPr>
          <a:lstStyle/>
          <a:p>
            <a:pPr algn="l">
              <a:spcAft>
                <a:spcPts val="400"/>
              </a:spcAft>
            </a:pPr>
            <a:r>
              <a:rPr sz="1200" b="0">
                <a:solidFill>
                  <a:srgbClr val="5B6372"/>
                </a:solidFill>
                <a:latin typeface="Arial"/>
              </a:rPr>
              <a:t>Interesting but unprofitable. A nice demo, not a business case.</a:t>
            </a:r>
          </a:p>
        </p:txBody>
      </p:sp>
      <p:sp>
        <p:nvSpPr>
          <p:cNvPr id="16" name="Rectangle 15"/>
          <p:cNvSpPr/>
          <p:nvPr/>
        </p:nvSpPr>
        <p:spPr>
          <a:xfrm>
            <a:off x="6309360" y="3840479"/>
            <a:ext cx="3931920" cy="1965960"/>
          </a:xfrm>
          <a:prstGeom prst="rect">
            <a:avLst/>
          </a:prstGeom>
          <a:solidFill>
            <a:srgbClr val="FFF6E5"/>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4023359"/>
            <a:ext cx="3529584" cy="457200"/>
          </a:xfrm>
          <a:prstGeom prst="rect">
            <a:avLst/>
          </a:prstGeom>
          <a:noFill/>
        </p:spPr>
        <p:txBody>
          <a:bodyPr wrap="square" anchor="t">
            <a:spAutoFit/>
          </a:bodyPr>
          <a:lstStyle/>
          <a:p>
            <a:pPr algn="l">
              <a:spcAft>
                <a:spcPts val="400"/>
              </a:spcAft>
            </a:pPr>
            <a:r>
              <a:rPr sz="1600" b="1">
                <a:solidFill>
                  <a:srgbClr val="161B26"/>
                </a:solidFill>
                <a:latin typeface="Arial"/>
              </a:rPr>
              <a:t>Not valuable · Not novel</a:t>
            </a:r>
          </a:p>
        </p:txBody>
      </p:sp>
      <p:sp>
        <p:nvSpPr>
          <p:cNvPr id="18" name="TextBox 17"/>
          <p:cNvSpPr txBox="1"/>
          <p:nvPr/>
        </p:nvSpPr>
        <p:spPr>
          <a:xfrm>
            <a:off x="6510528" y="4526279"/>
            <a:ext cx="3529584" cy="1188720"/>
          </a:xfrm>
          <a:prstGeom prst="rect">
            <a:avLst/>
          </a:prstGeom>
          <a:noFill/>
        </p:spPr>
        <p:txBody>
          <a:bodyPr wrap="square" anchor="t">
            <a:spAutoFit/>
          </a:bodyPr>
          <a:lstStyle/>
          <a:p>
            <a:pPr algn="l">
              <a:spcAft>
                <a:spcPts val="400"/>
              </a:spcAft>
            </a:pPr>
            <a:r>
              <a:rPr sz="1200" b="0">
                <a:solidFill>
                  <a:srgbClr val="5B6372"/>
                </a:solidFill>
                <a:latin typeface="Arial"/>
              </a:rPr>
              <a:t>Stop. This consumes capacity without creating value.</a:t>
            </a:r>
          </a:p>
        </p:txBody>
      </p:sp>
      <p:sp>
        <p:nvSpPr>
          <p:cNvPr id="19" name="TextBox 18"/>
          <p:cNvSpPr txBox="1"/>
          <p:nvPr/>
        </p:nvSpPr>
        <p:spPr>
          <a:xfrm>
            <a:off x="2377440" y="5916167"/>
            <a:ext cx="7863840" cy="365760"/>
          </a:xfrm>
          <a:prstGeom prst="rect">
            <a:avLst/>
          </a:prstGeom>
          <a:noFill/>
        </p:spPr>
        <p:txBody>
          <a:bodyPr wrap="square" anchor="t">
            <a:spAutoFit/>
          </a:bodyPr>
          <a:lstStyle/>
          <a:p>
            <a:pPr algn="ctr">
              <a:spcAft>
                <a:spcPts val="400"/>
              </a:spcAft>
            </a:pPr>
            <a:r>
              <a:rPr sz="1300" b="1">
                <a:solidFill>
                  <a:srgbClr val="F59E0B"/>
                </a:solidFill>
                <a:latin typeface="Arial"/>
              </a:rPr>
              <a:t>NOVELTY  →</a:t>
            </a:r>
          </a:p>
        </p:txBody>
      </p:sp>
      <p:sp>
        <p:nvSpPr>
          <p:cNvPr id="20" name="TextBox 19"/>
          <p:cNvSpPr txBox="1"/>
          <p:nvPr/>
        </p:nvSpPr>
        <p:spPr>
          <a:xfrm>
            <a:off x="777240" y="3611879"/>
            <a:ext cx="1463040" cy="457200"/>
          </a:xfrm>
          <a:prstGeom prst="rect">
            <a:avLst/>
          </a:prstGeom>
          <a:noFill/>
        </p:spPr>
        <p:txBody>
          <a:bodyPr wrap="square" anchor="t">
            <a:spAutoFit/>
          </a:bodyPr>
          <a:lstStyle/>
          <a:p>
            <a:pPr algn="ctr">
              <a:spcAft>
                <a:spcPts val="400"/>
              </a:spcAft>
            </a:pPr>
            <a:r>
              <a:rPr sz="1300" b="1">
                <a:solidFill>
                  <a:srgbClr val="F59E0B"/>
                </a:solidFill>
                <a:latin typeface="Arial"/>
              </a:rPr>
              <a:t>VALUE  →</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Empathy Map &amp; Persona — The Gift-Giving Experience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Redesign the gift-giving experience for a partner. You start by building empathy: interview them about the last gift they gave, then plot what they said, thought, did and felt into a four-quadrant empathy map and distil it into a persona.</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You'll produce</a:t>
            </a:r>
          </a:p>
        </p:txBody>
      </p:sp>
      <p:sp>
        <p:nvSpPr>
          <p:cNvPr id="13" name="TextBox 12"/>
          <p:cNvSpPr txBox="1"/>
          <p:nvPr/>
        </p:nvSpPr>
        <p:spPr>
          <a:xfrm>
            <a:off x="1005840" y="4498848"/>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completed four-quadrant empathy map and a one-page persona for your partner.</a:t>
            </a:r>
          </a:p>
        </p:txBody>
      </p:sp>
      <p:sp>
        <p:nvSpPr>
          <p:cNvPr id="14" name="TextBox 13"/>
          <p:cNvSpPr txBox="1"/>
          <p:nvPr/>
        </p:nvSpPr>
        <p:spPr>
          <a:xfrm>
            <a:off x="1005840" y="5138928"/>
            <a:ext cx="10241280" cy="548640"/>
          </a:xfrm>
          <a:prstGeom prst="rect">
            <a:avLst/>
          </a:prstGeom>
          <a:noFill/>
        </p:spPr>
        <p:txBody>
          <a:bodyPr wrap="square" anchor="t">
            <a:spAutoFit/>
          </a:bodyPr>
          <a:lstStyle/>
          <a:p>
            <a:pPr algn="l">
              <a:spcAft>
                <a:spcPts val="400"/>
              </a:spcAft>
            </a:pPr>
            <a:r>
              <a:rPr sz="1200" b="1">
                <a:solidFill>
                  <a:srgbClr val="5B6372"/>
                </a:solidFill>
                <a:latin typeface="Arial"/>
              </a:rPr>
              <a:t>Ed-tools:  </a:t>
            </a:r>
            <a:r>
              <a:rPr sz="1200" b="0">
                <a:solidFill>
                  <a:srgbClr val="5B6372"/>
                </a:solidFill>
                <a:latin typeface="Arial"/>
              </a:rPr>
              <a:t>Design Thinking Toolkit — Empathy Map &amp; Persona canvases (alfredang.github.io/designthinking)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CHECK YOUR WORK</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Empathy Map &amp; Persona — The Gift-Giving Experience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You're done when…</a:t>
            </a:r>
          </a:p>
        </p:txBody>
      </p:sp>
      <p:sp>
        <p:nvSpPr>
          <p:cNvPr id="10" name="TextBox 9"/>
          <p:cNvSpPr txBox="1"/>
          <p:nvPr/>
        </p:nvSpPr>
        <p:spPr>
          <a:xfrm>
            <a:off x="1097280" y="3063240"/>
            <a:ext cx="10058400" cy="1280160"/>
          </a:xfrm>
          <a:prstGeom prst="rect">
            <a:avLst/>
          </a:prstGeom>
          <a:noFill/>
        </p:spPr>
        <p:txBody>
          <a:bodyPr wrap="square" anchor="t">
            <a:spAutoFit/>
          </a:bodyPr>
          <a:lstStyle/>
          <a:p>
            <a:pPr algn="l">
              <a:spcAft>
                <a:spcPts val="400"/>
              </a:spcAft>
            </a:pPr>
            <a:r>
              <a:rPr sz="1700" b="0">
                <a:solidFill>
                  <a:srgbClr val="161B26"/>
                </a:solidFill>
                <a:latin typeface="Arial"/>
              </a:rPr>
              <a:t>All four quadrants are populated with your partner's own words, you have identified at least one contradiction between quadrants, and your partner confirms the persona sounds like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POV, How Might We &amp; Brainstorming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Take the empathy map from the previous lab and convert it into a sharp Point of View problem statement, reframe it as a set of 'How Might We' questions, then run a timed brainstorm and converge on the best ideas using dot voting.</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You'll produce</a:t>
            </a:r>
          </a:p>
        </p:txBody>
      </p:sp>
      <p:sp>
        <p:nvSpPr>
          <p:cNvPr id="13" name="TextBox 12"/>
          <p:cNvSpPr txBox="1"/>
          <p:nvPr/>
        </p:nvSpPr>
        <p:spPr>
          <a:xfrm>
            <a:off x="1005840" y="4498848"/>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validated POV statement, three HMW questions, 20+ generated ideas and a shortlist of three.</a:t>
            </a:r>
          </a:p>
        </p:txBody>
      </p:sp>
      <p:sp>
        <p:nvSpPr>
          <p:cNvPr id="14" name="TextBox 13"/>
          <p:cNvSpPr txBox="1"/>
          <p:nvPr/>
        </p:nvSpPr>
        <p:spPr>
          <a:xfrm>
            <a:off x="1005840" y="5138928"/>
            <a:ext cx="10241280" cy="548640"/>
          </a:xfrm>
          <a:prstGeom prst="rect">
            <a:avLst/>
          </a:prstGeom>
          <a:noFill/>
        </p:spPr>
        <p:txBody>
          <a:bodyPr wrap="square" anchor="t">
            <a:spAutoFit/>
          </a:bodyPr>
          <a:lstStyle/>
          <a:p>
            <a:pPr algn="l">
              <a:spcAft>
                <a:spcPts val="400"/>
              </a:spcAft>
            </a:pPr>
            <a:r>
              <a:rPr sz="1200" b="1">
                <a:solidFill>
                  <a:srgbClr val="5B6372"/>
                </a:solidFill>
                <a:latin typeface="Arial"/>
              </a:rPr>
              <a:t>Ed-tools:  </a:t>
            </a:r>
            <a:r>
              <a:rPr sz="1200" b="0">
                <a:solidFill>
                  <a:srgbClr val="5B6372"/>
                </a:solidFill>
                <a:latin typeface="Arial"/>
              </a:rPr>
              <a:t>Design Thinking Toolkit — POV, HMW and Brainstorm canvases (alfredang.github.io/designthinking)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CHECK YOUR WORK</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POV, How Might We &amp; Brainstorming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You're done when…</a:t>
            </a:r>
          </a:p>
        </p:txBody>
      </p:sp>
      <p:sp>
        <p:nvSpPr>
          <p:cNvPr id="10" name="TextBox 9"/>
          <p:cNvSpPr txBox="1"/>
          <p:nvPr/>
        </p:nvSpPr>
        <p:spPr>
          <a:xfrm>
            <a:off x="1097280" y="3063240"/>
            <a:ext cx="10058400" cy="1280160"/>
          </a:xfrm>
          <a:prstGeom prst="rect">
            <a:avLst/>
          </a:prstGeom>
          <a:noFill/>
        </p:spPr>
        <p:txBody>
          <a:bodyPr wrap="square" anchor="t">
            <a:spAutoFit/>
          </a:bodyPr>
          <a:lstStyle/>
          <a:p>
            <a:pPr algn="l">
              <a:spcAft>
                <a:spcPts val="400"/>
              </a:spcAft>
            </a:pPr>
            <a:r>
              <a:rPr sz="1700" b="0">
                <a:solidFill>
                  <a:srgbClr val="161B26"/>
                </a:solidFill>
                <a:latin typeface="Arial"/>
              </a:rPr>
              <a:t>Your POV has a verb-based need and a genuine insight, you generated 20 or more ideas, and you have three shortlisted ideas each with a stated reason for selection.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Prototype, Test &amp; Measure the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Turn your shortlisted idea into a low-fidelity prototype, test it with a real user, then define how you would measure whether it succeeded — moving from 'we like this idea' to 'here is the evidence it works'. Finish by handing the concept over for delivery with a RACI matrix and a sprint plan.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931920"/>
            <a:ext cx="106984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F6FEB"/>
                </a:solidFill>
                <a:latin typeface="Arial"/>
              </a:rPr>
              <a:t>You'll produce</a:t>
            </a:r>
          </a:p>
        </p:txBody>
      </p:sp>
      <p:sp>
        <p:nvSpPr>
          <p:cNvPr id="13" name="TextBox 12"/>
          <p:cNvSpPr txBox="1"/>
          <p:nvPr/>
        </p:nvSpPr>
        <p:spPr>
          <a:xfrm>
            <a:off x="1005840" y="4498848"/>
            <a:ext cx="10058400" cy="548640"/>
          </a:xfrm>
          <a:prstGeom prst="rect">
            <a:avLst/>
          </a:prstGeom>
          <a:noFill/>
        </p:spPr>
        <p:txBody>
          <a:bodyPr wrap="square" anchor="t">
            <a:spAutoFit/>
          </a:bodyPr>
          <a:lstStyle/>
          <a:p>
            <a:pPr algn="l">
              <a:spcAft>
                <a:spcPts val="400"/>
              </a:spcAft>
            </a:pPr>
            <a:r>
              <a:rPr sz="1700" b="1">
                <a:solidFill>
                  <a:srgbClr val="161B26"/>
                </a:solidFill>
                <a:latin typeface="Arial"/>
              </a:rPr>
              <a:t>A tested prototype, a completed evaluation matrix, an ROI/metrics plan and a RACI handover.</a:t>
            </a:r>
          </a:p>
        </p:txBody>
      </p:sp>
      <p:sp>
        <p:nvSpPr>
          <p:cNvPr id="14" name="TextBox 13"/>
          <p:cNvSpPr txBox="1"/>
          <p:nvPr/>
        </p:nvSpPr>
        <p:spPr>
          <a:xfrm>
            <a:off x="1005840" y="5138928"/>
            <a:ext cx="10241280" cy="548640"/>
          </a:xfrm>
          <a:prstGeom prst="rect">
            <a:avLst/>
          </a:prstGeom>
          <a:noFill/>
        </p:spPr>
        <p:txBody>
          <a:bodyPr wrap="square" anchor="t">
            <a:spAutoFit/>
          </a:bodyPr>
          <a:lstStyle/>
          <a:p>
            <a:pPr algn="l">
              <a:spcAft>
                <a:spcPts val="400"/>
              </a:spcAft>
            </a:pPr>
            <a:r>
              <a:rPr sz="1200" b="1">
                <a:solidFill>
                  <a:srgbClr val="5B6372"/>
                </a:solidFill>
                <a:latin typeface="Arial"/>
              </a:rPr>
              <a:t>Ed-tools:  </a:t>
            </a:r>
            <a:r>
              <a:rPr sz="1200" b="0">
                <a:solidFill>
                  <a:srgbClr val="5B6372"/>
                </a:solidFill>
                <a:latin typeface="Arial"/>
              </a:rPr>
              <a:t>Design Thinking Toolkit (alfredang.github.io/designthinking), RACI Matrix (alfredang.github.io/raci), Scrum Planner (alfredang.github.io/scrum), BCM (alfredang.github.io/bcm)</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CHECK YOUR WORK</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Prototype, Test &amp; Measure the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03120"/>
            <a:ext cx="106984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42316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You're done when…</a:t>
            </a:r>
          </a:p>
        </p:txBody>
      </p:sp>
      <p:sp>
        <p:nvSpPr>
          <p:cNvPr id="10" name="TextBox 9"/>
          <p:cNvSpPr txBox="1"/>
          <p:nvPr/>
        </p:nvSpPr>
        <p:spPr>
          <a:xfrm>
            <a:off x="1097280" y="3063240"/>
            <a:ext cx="10058400" cy="1280160"/>
          </a:xfrm>
          <a:prstGeom prst="rect">
            <a:avLst/>
          </a:prstGeom>
          <a:noFill/>
        </p:spPr>
        <p:txBody>
          <a:bodyPr wrap="square" anchor="t">
            <a:spAutoFit/>
          </a:bodyPr>
          <a:lstStyle/>
          <a:p>
            <a:pPr algn="l">
              <a:spcAft>
                <a:spcPts val="400"/>
              </a:spcAft>
            </a:pPr>
            <a:r>
              <a:rPr sz="1700" b="0">
                <a:solidFill>
                  <a:srgbClr val="161B26"/>
                </a:solidFill>
                <a:latin typeface="Arial"/>
              </a:rPr>
              <a:t>Your prototype was changed by user feedback, you have named the assumption you tested and the metrics that would prove success, the concept has an owner in the RACI matrix and a first sprint goal, and you have pitched the outcome and its value to your stakeholder leading with the insight rather than the solution.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500" b="1">
                <a:solidFill>
                  <a:srgbClr val="161B26"/>
                </a:solidFill>
                <a:latin typeface="Arial"/>
              </a:rPr>
              <a:t>Recap — Methodologies and Visual Tools for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now: build an empathy map and persona to capture what a user says, thinks, does and feels</a:t>
            </a:r>
          </a:p>
          <a:p>
            <a:pPr>
              <a:spcAft>
                <a:spcPts val="1000"/>
              </a:spcAft>
            </a:pPr>
            <a:r>
              <a:rPr sz="1700" b="0">
                <a:solidFill>
                  <a:srgbClr val="161B26"/>
                </a:solidFill>
                <a:latin typeface="Arial"/>
              </a:rPr>
              <a:t>•  You can now: convert empathy findings into a POV problem statement, generate a high volume of ideas and select the strongest</a:t>
            </a:r>
          </a:p>
          <a:p>
            <a:pPr>
              <a:spcAft>
                <a:spcPts val="1000"/>
              </a:spcAft>
            </a:pPr>
            <a:r>
              <a:rPr sz="1700" b="0">
                <a:solidFill>
                  <a:srgbClr val="161B26"/>
                </a:solidFill>
                <a:latin typeface="Arial"/>
              </a:rPr>
              <a:t>•  You can now: build a low-fidelity prototype, test it with a user, define the metrics that prove it worked, and communicate the outcome and its value to stakeholders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LO1 · Understood</a:t>
            </a:r>
          </a:p>
          <a:p>
            <a:pPr algn="l">
              <a:spcAft>
                <a:spcPts val="300"/>
              </a:spcAft>
            </a:pPr>
            <a:r>
              <a:rPr sz="1200" b="0">
                <a:solidFill>
                  <a:srgbClr val="5B6372"/>
                </a:solidFill>
                <a:latin typeface="Arial"/>
              </a:rPr>
              <a:t>The key concepts, principles and business value of design thinking.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LO2 · Applied</a:t>
            </a:r>
          </a:p>
          <a:p>
            <a:pPr algn="l">
              <a:spcAft>
                <a:spcPts val="300"/>
              </a:spcAft>
            </a:pPr>
            <a:r>
              <a:rPr sz="1200" b="0">
                <a:solidFill>
                  <a:srgbClr val="5B6372"/>
                </a:solidFill>
                <a:latin typeface="Arial"/>
              </a:rPr>
              <a:t>Design thinking methods to generate new ideas for your organisation.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LO3 · Uncovered</a:t>
            </a:r>
          </a:p>
          <a:p>
            <a:pPr algn="l">
              <a:spcAft>
                <a:spcPts val="300"/>
              </a:spcAft>
            </a:pPr>
            <a:r>
              <a:rPr sz="1200" b="0">
                <a:solidFill>
                  <a:srgbClr val="5B6372"/>
                </a:solidFill>
                <a:latin typeface="Arial"/>
              </a:rPr>
              <a:t>Real opportunities to apply design thinking where you 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LO4 · Implemented</a:t>
            </a:r>
          </a:p>
          <a:p>
            <a:pPr algn="l">
              <a:spcAft>
                <a:spcPts val="300"/>
              </a:spcAft>
            </a:pPr>
            <a:r>
              <a:rPr sz="1200" b="0">
                <a:solidFill>
                  <a:srgbClr val="5B6372"/>
                </a:solidFill>
                <a:latin typeface="Arial"/>
              </a:rPr>
              <a:t>A plan to embed the five action phases across the organisation.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LO5 · Executed</a:t>
            </a:r>
          </a:p>
          <a:p>
            <a:pPr algn="l">
              <a:spcAft>
                <a:spcPts val="300"/>
              </a:spcAft>
            </a:pPr>
            <a:r>
              <a:rPr sz="1200" b="0">
                <a:solidFill>
                  <a:srgbClr val="5B6372"/>
                </a:solidFill>
                <a:latin typeface="Arial"/>
              </a:rPr>
              <a:t>A design concept as a tested low-fidelity prototype.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LO6 · Measured</a:t>
            </a:r>
          </a:p>
          <a:p>
            <a:pPr algn="l">
              <a:spcAft>
                <a:spcPts val="300"/>
              </a:spcAft>
            </a:pPr>
            <a:r>
              <a:rPr sz="1200" b="0">
                <a:solidFill>
                  <a:srgbClr val="5B6372"/>
                </a:solidFill>
                <a:latin typeface="Arial"/>
              </a:rPr>
              <a:t>The outcome of a design idea using metrics and a value/novelty map.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Take It Back to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Pick one opportunity</a:t>
            </a:r>
          </a:p>
          <a:p>
            <a:pPr algn="l">
              <a:spcAft>
                <a:spcPts val="300"/>
              </a:spcAft>
            </a:pPr>
            <a:r>
              <a:rPr sz="1100" b="0">
                <a:solidFill>
                  <a:srgbClr val="5B6372"/>
                </a:solidFill>
                <a:latin typeface="Arial"/>
              </a:rPr>
              <a:t>Start with the impact-versus-effort winner from Activity 3.</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Run a one-week sprint</a:t>
            </a:r>
          </a:p>
          <a:p>
            <a:pPr algn="l">
              <a:spcAft>
                <a:spcPts val="300"/>
              </a:spcAft>
            </a:pPr>
            <a:r>
              <a:rPr sz="1100" b="0">
                <a:solidFill>
                  <a:srgbClr val="5B6372"/>
                </a:solidFill>
                <a:latin typeface="Arial"/>
              </a:rPr>
              <a:t>Empathize and Define on days 1–2, Ideate day 3, Prototype and Test days 4–5.</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Give it an owner</a:t>
            </a:r>
          </a:p>
          <a:p>
            <a:pPr algn="l">
              <a:spcAft>
                <a:spcPts val="300"/>
              </a:spcAft>
            </a:pPr>
            <a:r>
              <a:rPr sz="1100" b="0">
                <a:solidFill>
                  <a:srgbClr val="5B6372"/>
                </a:solidFill>
                <a:latin typeface="Arial"/>
              </a:rPr>
              <a:t>Use the RACI matrix so the concept has an accountable name against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Define the metric first</a:t>
            </a:r>
          </a:p>
          <a:p>
            <a:pPr algn="l">
              <a:spcAft>
                <a:spcPts val="300"/>
              </a:spcAft>
            </a:pPr>
            <a:r>
              <a:rPr sz="1100" b="0">
                <a:solidFill>
                  <a:srgbClr val="5B6372"/>
                </a:solidFill>
                <a:latin typeface="Arial"/>
              </a:rPr>
              <a:t>Agree what success looks like before you build anything.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Keep the ed-tools</a:t>
            </a:r>
          </a:p>
          <a:p>
            <a:pPr algn="l">
              <a:spcAft>
                <a:spcPts val="300"/>
              </a:spcAft>
            </a:pPr>
            <a:r>
              <a:rPr sz="1100" b="0">
                <a:solidFill>
                  <a:srgbClr val="5B6372"/>
                </a:solidFill>
                <a:latin typeface="Arial"/>
              </a:rPr>
              <a:t>All the canvases stay free and available in your browser after the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Share the result</a:t>
            </a:r>
          </a:p>
          <a:p>
            <a:pPr algn="l">
              <a:spcAft>
                <a:spcPts val="300"/>
              </a:spcAft>
            </a:pPr>
            <a:r>
              <a:rPr sz="1100" b="0">
                <a:solidFill>
                  <a:srgbClr val="5B6372"/>
                </a:solidFill>
                <a:latin typeface="Arial"/>
              </a:rPr>
              <a:t>Show colleagues the prototype and the user feedback — evidence beats opinion.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YOURS TO KEEP  ·  FREE  ·  NO LOGIN REQUIRED</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Keep Using These Tools After the Course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791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91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959559"/>
            <a:ext cx="438912" cy="43891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959559"/>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673352" y="1783080"/>
            <a:ext cx="3200400" cy="791870"/>
          </a:xfrm>
          <a:prstGeom prst="rect">
            <a:avLst/>
          </a:prstGeom>
          <a:noFill/>
        </p:spPr>
        <p:txBody>
          <a:bodyPr wrap="square" anchor="ctr">
            <a:spAutoFit/>
          </a:bodyPr>
          <a:lstStyle/>
          <a:p>
            <a:pPr algn="l">
              <a:spcAft>
                <a:spcPts val="200"/>
              </a:spcAft>
            </a:pPr>
            <a:r>
              <a:rPr sz="1400" b="1">
                <a:solidFill>
                  <a:srgbClr val="161B26"/>
                </a:solidFill>
                <a:latin typeface="Arial"/>
              </a:rPr>
              <a:t>Design Thinking Toolkit</a:t>
            </a:r>
          </a:p>
          <a:p>
            <a:pPr algn="l">
              <a:spcAft>
                <a:spcPts val="200"/>
              </a:spcAft>
            </a:pPr>
            <a:r>
              <a:rPr sz="950" b="0">
                <a:solidFill>
                  <a:srgbClr val="1F6FEB"/>
                </a:solidFill>
                <a:latin typeface="Arial"/>
              </a:rPr>
              <a:t>alfredang.github.io/designthinking/</a:t>
            </a:r>
          </a:p>
        </p:txBody>
      </p:sp>
      <p:sp>
        <p:nvSpPr>
          <p:cNvPr id="12" name="TextBox 11"/>
          <p:cNvSpPr txBox="1"/>
          <p:nvPr/>
        </p:nvSpPr>
        <p:spPr>
          <a:xfrm>
            <a:off x="4983480" y="1783080"/>
            <a:ext cx="6199632" cy="791870"/>
          </a:xfrm>
          <a:prstGeom prst="rect">
            <a:avLst/>
          </a:prstGeom>
          <a:noFill/>
        </p:spPr>
        <p:txBody>
          <a:bodyPr wrap="square" anchor="ctr">
            <a:spAutoFit/>
          </a:bodyPr>
          <a:lstStyle/>
          <a:p>
            <a:pPr algn="l">
              <a:spcAft>
                <a:spcPts val="400"/>
              </a:spcAft>
            </a:pPr>
            <a:r>
              <a:rPr sz="1200" b="0">
                <a:solidFill>
                  <a:srgbClr val="5B6372"/>
                </a:solidFill>
                <a:latin typeface="Arial"/>
              </a:rPr>
              <a:t>Re-run the Empathy Map and POV canvases on a live problem with your own team.</a:t>
            </a:r>
          </a:p>
        </p:txBody>
      </p:sp>
      <p:sp>
        <p:nvSpPr>
          <p:cNvPr id="13" name="Rectangle 12"/>
          <p:cNvSpPr/>
          <p:nvPr/>
        </p:nvSpPr>
        <p:spPr>
          <a:xfrm>
            <a:off x="777240" y="2693822"/>
            <a:ext cx="10634472" cy="791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693822"/>
            <a:ext cx="91440" cy="7918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1560" y="2870301"/>
            <a:ext cx="438912" cy="43891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870301"/>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7" name="TextBox 16"/>
          <p:cNvSpPr txBox="1"/>
          <p:nvPr/>
        </p:nvSpPr>
        <p:spPr>
          <a:xfrm>
            <a:off x="1673352" y="2693822"/>
            <a:ext cx="3200400" cy="791870"/>
          </a:xfrm>
          <a:prstGeom prst="rect">
            <a:avLst/>
          </a:prstGeom>
          <a:noFill/>
        </p:spPr>
        <p:txBody>
          <a:bodyPr wrap="square" anchor="ctr">
            <a:spAutoFit/>
          </a:bodyPr>
          <a:lstStyle/>
          <a:p>
            <a:pPr algn="l">
              <a:spcAft>
                <a:spcPts val="200"/>
              </a:spcAft>
            </a:pPr>
            <a:r>
              <a:rPr sz="1400" b="1">
                <a:solidFill>
                  <a:srgbClr val="161B26"/>
                </a:solidFill>
                <a:latin typeface="Arial"/>
              </a:rPr>
              <a:t>RACI Matrix</a:t>
            </a:r>
          </a:p>
          <a:p>
            <a:pPr algn="l">
              <a:spcAft>
                <a:spcPts val="200"/>
              </a:spcAft>
            </a:pPr>
            <a:r>
              <a:rPr sz="950" b="0">
                <a:solidFill>
                  <a:srgbClr val="10B981"/>
                </a:solidFill>
                <a:latin typeface="Arial"/>
              </a:rPr>
              <a:t>alfredang.github.io/raci/</a:t>
            </a:r>
          </a:p>
        </p:txBody>
      </p:sp>
      <p:sp>
        <p:nvSpPr>
          <p:cNvPr id="18" name="TextBox 17"/>
          <p:cNvSpPr txBox="1"/>
          <p:nvPr/>
        </p:nvSpPr>
        <p:spPr>
          <a:xfrm>
            <a:off x="4983480" y="2693822"/>
            <a:ext cx="6199632" cy="791870"/>
          </a:xfrm>
          <a:prstGeom prst="rect">
            <a:avLst/>
          </a:prstGeom>
          <a:noFill/>
        </p:spPr>
        <p:txBody>
          <a:bodyPr wrap="square" anchor="ctr">
            <a:spAutoFit/>
          </a:bodyPr>
          <a:lstStyle/>
          <a:p>
            <a:pPr algn="l">
              <a:spcAft>
                <a:spcPts val="400"/>
              </a:spcAft>
            </a:pPr>
            <a:r>
              <a:rPr sz="1200" b="0">
                <a:solidFill>
                  <a:srgbClr val="5B6372"/>
                </a:solidFill>
                <a:latin typeface="Arial"/>
              </a:rPr>
              <a:t>Assign an owner for your first initiative so it survives the handover to delivery.</a:t>
            </a:r>
          </a:p>
        </p:txBody>
      </p:sp>
      <p:sp>
        <p:nvSpPr>
          <p:cNvPr id="19" name="Rectangle 18"/>
          <p:cNvSpPr/>
          <p:nvPr/>
        </p:nvSpPr>
        <p:spPr>
          <a:xfrm>
            <a:off x="777240" y="3604564"/>
            <a:ext cx="10634472" cy="791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04564"/>
            <a:ext cx="91440" cy="791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51560" y="3781043"/>
            <a:ext cx="438912" cy="43891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781043"/>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673352" y="3604564"/>
            <a:ext cx="3200400" cy="791870"/>
          </a:xfrm>
          <a:prstGeom prst="rect">
            <a:avLst/>
          </a:prstGeom>
          <a:noFill/>
        </p:spPr>
        <p:txBody>
          <a:bodyPr wrap="square" anchor="ctr">
            <a:spAutoFit/>
          </a:bodyPr>
          <a:lstStyle/>
          <a:p>
            <a:pPr algn="l">
              <a:spcAft>
                <a:spcPts val="200"/>
              </a:spcAft>
            </a:pPr>
            <a:r>
              <a:rPr sz="1400" b="1">
                <a:solidFill>
                  <a:srgbClr val="161B26"/>
                </a:solidFill>
                <a:latin typeface="Arial"/>
              </a:rPr>
              <a:t>Scrum Planner</a:t>
            </a:r>
          </a:p>
          <a:p>
            <a:pPr algn="l">
              <a:spcAft>
                <a:spcPts val="200"/>
              </a:spcAft>
            </a:pPr>
            <a:r>
              <a:rPr sz="950" b="0">
                <a:solidFill>
                  <a:srgbClr val="7C3AED"/>
                </a:solidFill>
                <a:latin typeface="Arial"/>
              </a:rPr>
              <a:t>alfredang.github.io/scrum/</a:t>
            </a:r>
          </a:p>
        </p:txBody>
      </p:sp>
      <p:sp>
        <p:nvSpPr>
          <p:cNvPr id="24" name="TextBox 23"/>
          <p:cNvSpPr txBox="1"/>
          <p:nvPr/>
        </p:nvSpPr>
        <p:spPr>
          <a:xfrm>
            <a:off x="4983480" y="3604564"/>
            <a:ext cx="6199632" cy="791870"/>
          </a:xfrm>
          <a:prstGeom prst="rect">
            <a:avLst/>
          </a:prstGeom>
          <a:noFill/>
        </p:spPr>
        <p:txBody>
          <a:bodyPr wrap="square" anchor="ctr">
            <a:spAutoFit/>
          </a:bodyPr>
          <a:lstStyle/>
          <a:p>
            <a:pPr algn="l">
              <a:spcAft>
                <a:spcPts val="400"/>
              </a:spcAft>
            </a:pPr>
            <a:r>
              <a:rPr sz="1200" b="0">
                <a:solidFill>
                  <a:srgbClr val="5B6372"/>
                </a:solidFill>
                <a:latin typeface="Arial"/>
              </a:rPr>
              <a:t>Turn the concept you prototyped today into a backlog and a first sprint goal.</a:t>
            </a:r>
          </a:p>
        </p:txBody>
      </p:sp>
      <p:sp>
        <p:nvSpPr>
          <p:cNvPr id="25" name="Rectangle 24"/>
          <p:cNvSpPr/>
          <p:nvPr/>
        </p:nvSpPr>
        <p:spPr>
          <a:xfrm>
            <a:off x="777240" y="4515306"/>
            <a:ext cx="10634472" cy="791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15306"/>
            <a:ext cx="91440" cy="791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51560" y="4691785"/>
            <a:ext cx="438912" cy="43891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4691785"/>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9" name="TextBox 28"/>
          <p:cNvSpPr txBox="1"/>
          <p:nvPr/>
        </p:nvSpPr>
        <p:spPr>
          <a:xfrm>
            <a:off x="1673352" y="4515306"/>
            <a:ext cx="3200400" cy="791870"/>
          </a:xfrm>
          <a:prstGeom prst="rect">
            <a:avLst/>
          </a:prstGeom>
          <a:noFill/>
        </p:spPr>
        <p:txBody>
          <a:bodyPr wrap="square" anchor="ctr">
            <a:spAutoFit/>
          </a:bodyPr>
          <a:lstStyle/>
          <a:p>
            <a:pPr algn="l">
              <a:spcAft>
                <a:spcPts val="200"/>
              </a:spcAft>
            </a:pPr>
            <a:r>
              <a:rPr sz="1400" b="1">
                <a:solidFill>
                  <a:srgbClr val="161B26"/>
                </a:solidFill>
                <a:latin typeface="Arial"/>
              </a:rPr>
              <a:t>Digital Transformation Canvas</a:t>
            </a:r>
          </a:p>
          <a:p>
            <a:pPr algn="l">
              <a:spcAft>
                <a:spcPts val="200"/>
              </a:spcAft>
            </a:pPr>
            <a:r>
              <a:rPr sz="950" b="0">
                <a:solidFill>
                  <a:srgbClr val="F59E0B"/>
                </a:solidFill>
                <a:latin typeface="Arial"/>
              </a:rPr>
              <a:t>alfredang.github.io/digitaltransformation/</a:t>
            </a:r>
          </a:p>
        </p:txBody>
      </p:sp>
      <p:sp>
        <p:nvSpPr>
          <p:cNvPr id="30" name="TextBox 29"/>
          <p:cNvSpPr txBox="1"/>
          <p:nvPr/>
        </p:nvSpPr>
        <p:spPr>
          <a:xfrm>
            <a:off x="4983480" y="4515306"/>
            <a:ext cx="6199632" cy="791870"/>
          </a:xfrm>
          <a:prstGeom prst="rect">
            <a:avLst/>
          </a:prstGeom>
          <a:noFill/>
        </p:spPr>
        <p:txBody>
          <a:bodyPr wrap="square" anchor="ctr">
            <a:spAutoFit/>
          </a:bodyPr>
          <a:lstStyle/>
          <a:p>
            <a:pPr algn="l">
              <a:spcAft>
                <a:spcPts val="400"/>
              </a:spcAft>
            </a:pPr>
            <a:r>
              <a:rPr sz="1200" b="0">
                <a:solidFill>
                  <a:srgbClr val="5B6372"/>
                </a:solidFill>
                <a:latin typeface="Arial"/>
              </a:rPr>
              <a:t>Position the initiative inside your organisation's wider transformation roadmap.</a:t>
            </a:r>
          </a:p>
        </p:txBody>
      </p:sp>
      <p:sp>
        <p:nvSpPr>
          <p:cNvPr id="31" name="Rectangle 30"/>
          <p:cNvSpPr/>
          <p:nvPr/>
        </p:nvSpPr>
        <p:spPr>
          <a:xfrm>
            <a:off x="777240" y="5426048"/>
            <a:ext cx="10634472" cy="791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426048"/>
            <a:ext cx="91440" cy="791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51560" y="5602527"/>
            <a:ext cx="438912" cy="43891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5602527"/>
            <a:ext cx="438912" cy="438912"/>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5" name="TextBox 34"/>
          <p:cNvSpPr txBox="1"/>
          <p:nvPr/>
        </p:nvSpPr>
        <p:spPr>
          <a:xfrm>
            <a:off x="1673352" y="5426048"/>
            <a:ext cx="3200400" cy="791870"/>
          </a:xfrm>
          <a:prstGeom prst="rect">
            <a:avLst/>
          </a:prstGeom>
          <a:noFill/>
        </p:spPr>
        <p:txBody>
          <a:bodyPr wrap="square" anchor="ctr">
            <a:spAutoFit/>
          </a:bodyPr>
          <a:lstStyle/>
          <a:p>
            <a:pPr algn="l">
              <a:spcAft>
                <a:spcPts val="200"/>
              </a:spcAft>
            </a:pPr>
            <a:r>
              <a:rPr sz="1400" b="1">
                <a:solidFill>
                  <a:srgbClr val="161B26"/>
                </a:solidFill>
                <a:latin typeface="Arial"/>
              </a:rPr>
              <a:t>Business Continuity Management</a:t>
            </a:r>
          </a:p>
          <a:p>
            <a:pPr algn="l">
              <a:spcAft>
                <a:spcPts val="200"/>
              </a:spcAft>
            </a:pPr>
            <a:r>
              <a:rPr sz="950" b="0">
                <a:solidFill>
                  <a:srgbClr val="1F6FEB"/>
                </a:solidFill>
                <a:latin typeface="Arial"/>
              </a:rPr>
              <a:t>alfredang.github.io/bcm/</a:t>
            </a:r>
          </a:p>
        </p:txBody>
      </p:sp>
      <p:sp>
        <p:nvSpPr>
          <p:cNvPr id="36" name="TextBox 35"/>
          <p:cNvSpPr txBox="1"/>
          <p:nvPr/>
        </p:nvSpPr>
        <p:spPr>
          <a:xfrm>
            <a:off x="4983480" y="5426048"/>
            <a:ext cx="6199632" cy="791870"/>
          </a:xfrm>
          <a:prstGeom prst="rect">
            <a:avLst/>
          </a:prstGeom>
          <a:noFill/>
        </p:spPr>
        <p:txBody>
          <a:bodyPr wrap="square" anchor="ctr">
            <a:spAutoFit/>
          </a:bodyPr>
          <a:lstStyle/>
          <a:p>
            <a:pPr algn="l">
              <a:spcAft>
                <a:spcPts val="400"/>
              </a:spcAft>
            </a:pPr>
            <a:r>
              <a:rPr sz="1200" b="0">
                <a:solidFill>
                  <a:srgbClr val="5B6372"/>
                </a:solidFill>
                <a:latin typeface="Arial"/>
              </a:rPr>
              <a:t>Stress-test the solution for operational risk before you commit to rollout.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Summary &amp; Q&amp;A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Design thinking is a human-centred, iterative approach to solving real problems.</a:t>
            </a:r>
          </a:p>
          <a:p>
            <a:pPr>
              <a:spcAft>
                <a:spcPts val="1000"/>
              </a:spcAft>
            </a:pPr>
            <a:r>
              <a:rPr sz="2000" b="0">
                <a:solidFill>
                  <a:srgbClr val="161B26"/>
                </a:solidFill>
                <a:latin typeface="Arial"/>
              </a:rPr>
              <a:t>•  The five action phases — Empathize, Define, Ideate, Prototype, Test — loop rather than run once.</a:t>
            </a:r>
          </a:p>
          <a:p>
            <a:pPr>
              <a:spcAft>
                <a:spcPts val="1000"/>
              </a:spcAft>
            </a:pPr>
            <a:r>
              <a:rPr sz="2000" b="0">
                <a:solidFill>
                  <a:srgbClr val="161B26"/>
                </a:solidFill>
                <a:latin typeface="Arial"/>
              </a:rPr>
              <a:t>•  Methods and visual tools make each phase concrete and repeatable.</a:t>
            </a:r>
          </a:p>
          <a:p>
            <a:pPr>
              <a:spcAft>
                <a:spcPts val="1000"/>
              </a:spcAft>
            </a:pPr>
            <a:r>
              <a:rPr sz="2000" b="0">
                <a:solidFill>
                  <a:srgbClr val="161B26"/>
                </a:solidFill>
                <a:latin typeface="Arial"/>
              </a:rPr>
              <a:t>•  Metrics turn a good idea into a defensible business case.</a:t>
            </a:r>
          </a:p>
          <a:p>
            <a:pPr>
              <a:spcAft>
                <a:spcPts val="1000"/>
              </a:spcAft>
            </a:pPr>
            <a:r>
              <a:rPr sz="2000" b="0">
                <a:solidFill>
                  <a:srgbClr val="161B26"/>
                </a:solidFill>
                <a:latin typeface="Arial"/>
              </a:rPr>
              <a:t>•  Questions?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5721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5721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48840"/>
            <a:ext cx="4517136" cy="502920"/>
          </a:xfrm>
          <a:prstGeom prst="rect">
            <a:avLst/>
          </a:prstGeom>
          <a:noFill/>
        </p:spPr>
        <p:txBody>
          <a:bodyPr wrap="square" anchor="t">
            <a:spAutoFit/>
          </a:bodyPr>
          <a:lstStyle/>
          <a:p>
            <a:pPr algn="l">
              <a:spcAft>
                <a:spcPts val="400"/>
              </a:spcAft>
            </a:pPr>
            <a:r>
              <a:rPr sz="2000" b="1">
                <a:solidFill>
                  <a:srgbClr val="10B981"/>
                </a:solidFill>
                <a:latin typeface="Arial"/>
              </a:rPr>
              <a:t>Practical Performance (PP)</a:t>
            </a:r>
          </a:p>
        </p:txBody>
      </p:sp>
      <p:sp>
        <p:nvSpPr>
          <p:cNvPr id="10" name="TextBox 9"/>
          <p:cNvSpPr txBox="1"/>
          <p:nvPr/>
        </p:nvSpPr>
        <p:spPr>
          <a:xfrm>
            <a:off x="1097280" y="2743200"/>
            <a:ext cx="4517136" cy="365760"/>
          </a:xfrm>
          <a:prstGeom prst="rect">
            <a:avLst/>
          </a:prstGeom>
          <a:noFill/>
        </p:spPr>
        <p:txBody>
          <a:bodyPr wrap="square" anchor="t">
            <a:spAutoFit/>
          </a:bodyPr>
          <a:lstStyle/>
          <a:p>
            <a:pPr algn="l">
              <a:spcAft>
                <a:spcPts val="400"/>
              </a:spcAft>
            </a:pPr>
            <a:r>
              <a:rPr sz="1500" b="1">
                <a:solidFill>
                  <a:srgbClr val="161B26"/>
                </a:solidFill>
                <a:latin typeface="Arial"/>
              </a:rPr>
              <a:t>Design-thinking tasks</a:t>
            </a:r>
          </a:p>
        </p:txBody>
      </p:sp>
      <p:sp>
        <p:nvSpPr>
          <p:cNvPr id="11" name="Rectangle 10"/>
          <p:cNvSpPr/>
          <p:nvPr/>
        </p:nvSpPr>
        <p:spPr>
          <a:xfrm>
            <a:off x="1097280" y="3246120"/>
            <a:ext cx="2651760" cy="3474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246120"/>
            <a:ext cx="2651760" cy="347472"/>
          </a:xfrm>
          <a:prstGeom prst="rect">
            <a:avLst/>
          </a:prstGeom>
          <a:noFill/>
        </p:spPr>
        <p:txBody>
          <a:bodyPr wrap="square" anchor="ctr">
            <a:spAutoFit/>
          </a:bodyPr>
          <a:lstStyle/>
          <a:p>
            <a:pPr algn="ctr">
              <a:spcAft>
                <a:spcPts val="400"/>
              </a:spcAft>
            </a:pPr>
            <a:r>
              <a:rPr sz="1200" b="1">
                <a:solidFill>
                  <a:srgbClr val="FFFFFF"/>
                </a:solidFill>
                <a:latin typeface="Arial"/>
              </a:rPr>
              <a:t>70 minutes  ·  Open book</a:t>
            </a:r>
          </a:p>
        </p:txBody>
      </p:sp>
      <p:sp>
        <p:nvSpPr>
          <p:cNvPr id="13" name="TextBox 12"/>
          <p:cNvSpPr txBox="1"/>
          <p:nvPr/>
        </p:nvSpPr>
        <p:spPr>
          <a:xfrm>
            <a:off x="1097280" y="3794760"/>
            <a:ext cx="4517136" cy="777240"/>
          </a:xfrm>
          <a:prstGeom prst="rect">
            <a:avLst/>
          </a:prstGeom>
          <a:noFill/>
        </p:spPr>
        <p:txBody>
          <a:bodyPr wrap="square" anchor="t">
            <a:spAutoFit/>
          </a:bodyPr>
          <a:lstStyle/>
          <a:p>
            <a:pPr algn="l">
              <a:spcAft>
                <a:spcPts val="400"/>
              </a:spcAft>
            </a:pPr>
            <a:r>
              <a:rPr sz="1300" b="0">
                <a:solidFill>
                  <a:srgbClr val="5B6372"/>
                </a:solidFill>
                <a:latin typeface="Arial"/>
              </a:rPr>
              <a:t>Tests your ABILITY to apply the methods using the course ed-tools.</a:t>
            </a:r>
          </a:p>
        </p:txBody>
      </p:sp>
      <p:sp>
        <p:nvSpPr>
          <p:cNvPr id="14" name="Rectangle 13"/>
          <p:cNvSpPr/>
          <p:nvPr/>
        </p:nvSpPr>
        <p:spPr>
          <a:xfrm>
            <a:off x="6254496" y="1828800"/>
            <a:ext cx="515721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54496" y="1828800"/>
            <a:ext cx="515721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74536" y="2148840"/>
            <a:ext cx="4517136" cy="502920"/>
          </a:xfrm>
          <a:prstGeom prst="rect">
            <a:avLst/>
          </a:prstGeom>
          <a:noFill/>
        </p:spPr>
        <p:txBody>
          <a:bodyPr wrap="square" anchor="t">
            <a:spAutoFit/>
          </a:bodyPr>
          <a:lstStyle/>
          <a:p>
            <a:pPr algn="l">
              <a:spcAft>
                <a:spcPts val="400"/>
              </a:spcAft>
            </a:pPr>
            <a:r>
              <a:rPr sz="2000" b="1">
                <a:solidFill>
                  <a:srgbClr val="1F6FEB"/>
                </a:solidFill>
                <a:latin typeface="Arial"/>
              </a:rPr>
              <a:t>Oral Questioning (OQ)</a:t>
            </a:r>
          </a:p>
        </p:txBody>
      </p:sp>
      <p:sp>
        <p:nvSpPr>
          <p:cNvPr id="17" name="TextBox 16"/>
          <p:cNvSpPr txBox="1"/>
          <p:nvPr/>
        </p:nvSpPr>
        <p:spPr>
          <a:xfrm>
            <a:off x="6574536" y="2743200"/>
            <a:ext cx="4517136" cy="365760"/>
          </a:xfrm>
          <a:prstGeom prst="rect">
            <a:avLst/>
          </a:prstGeom>
          <a:noFill/>
        </p:spPr>
        <p:txBody>
          <a:bodyPr wrap="square" anchor="t">
            <a:spAutoFit/>
          </a:bodyPr>
          <a:lstStyle/>
          <a:p>
            <a:pPr algn="l">
              <a:spcAft>
                <a:spcPts val="400"/>
              </a:spcAft>
            </a:pPr>
            <a:r>
              <a:rPr sz="1500" b="1">
                <a:solidFill>
                  <a:srgbClr val="161B26"/>
                </a:solidFill>
                <a:latin typeface="Arial"/>
              </a:rPr>
              <a:t>Verbal questions from the assessor</a:t>
            </a:r>
          </a:p>
        </p:txBody>
      </p:sp>
      <p:sp>
        <p:nvSpPr>
          <p:cNvPr id="18" name="Rectangle 17"/>
          <p:cNvSpPr/>
          <p:nvPr/>
        </p:nvSpPr>
        <p:spPr>
          <a:xfrm>
            <a:off x="6574536" y="3246120"/>
            <a:ext cx="2651760" cy="3474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36" y="3246120"/>
            <a:ext cx="2651760" cy="347472"/>
          </a:xfrm>
          <a:prstGeom prst="rect">
            <a:avLst/>
          </a:prstGeom>
          <a:noFill/>
        </p:spPr>
        <p:txBody>
          <a:bodyPr wrap="square" anchor="ctr">
            <a:spAutoFit/>
          </a:bodyPr>
          <a:lstStyle/>
          <a:p>
            <a:pPr algn="ctr">
              <a:spcAft>
                <a:spcPts val="400"/>
              </a:spcAft>
            </a:pPr>
            <a:r>
              <a:rPr sz="1200" b="1">
                <a:solidFill>
                  <a:srgbClr val="FFFFFF"/>
                </a:solidFill>
                <a:latin typeface="Arial"/>
              </a:rPr>
              <a:t>20 minutes  ·  Open book</a:t>
            </a:r>
          </a:p>
        </p:txBody>
      </p:sp>
      <p:sp>
        <p:nvSpPr>
          <p:cNvPr id="20" name="TextBox 19"/>
          <p:cNvSpPr txBox="1"/>
          <p:nvPr/>
        </p:nvSpPr>
        <p:spPr>
          <a:xfrm>
            <a:off x="6574536" y="3794760"/>
            <a:ext cx="4517136" cy="777240"/>
          </a:xfrm>
          <a:prstGeom prst="rect">
            <a:avLst/>
          </a:prstGeom>
          <a:noFill/>
        </p:spPr>
        <p:txBody>
          <a:bodyPr wrap="square" anchor="t">
            <a:spAutoFit/>
          </a:bodyPr>
          <a:lstStyle/>
          <a:p>
            <a:pPr algn="l">
              <a:spcAft>
                <a:spcPts val="400"/>
              </a:spcAft>
            </a:pPr>
            <a:r>
              <a:rPr sz="1300" b="0">
                <a:solidFill>
                  <a:srgbClr val="5B6372"/>
                </a:solidFill>
                <a:latin typeface="Arial"/>
              </a:rPr>
              <a:t>Tests your KNOWLEDGE of design thinking concepts, phases, tools and metrics.</a:t>
            </a:r>
          </a:p>
        </p:txBody>
      </p:sp>
      <p:sp>
        <p:nvSpPr>
          <p:cNvPr id="21" name="Rectangle 20"/>
          <p:cNvSpPr/>
          <p:nvPr/>
        </p:nvSpPr>
        <p:spPr>
          <a:xfrm>
            <a:off x="777240" y="4983480"/>
            <a:ext cx="10634472" cy="10058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983480"/>
            <a:ext cx="91440"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4983480"/>
            <a:ext cx="9994392" cy="1005840"/>
          </a:xfrm>
          <a:prstGeom prst="rect">
            <a:avLst/>
          </a:prstGeom>
          <a:noFill/>
        </p:spPr>
        <p:txBody>
          <a:bodyPr wrap="square" anchor="ctr">
            <a:spAutoFit/>
          </a:bodyPr>
          <a:lstStyle/>
          <a:p>
            <a:pPr algn="l">
              <a:spcAft>
                <a:spcPts val="300"/>
              </a:spcAft>
            </a:pPr>
            <a:r>
              <a:rPr sz="1500" b="1">
                <a:solidFill>
                  <a:srgbClr val="127A3E"/>
                </a:solidFill>
                <a:latin typeface="Arial"/>
              </a:rPr>
              <a:t>📖  Open book  ·  you must be assessed 'Competent' in both instruments</a:t>
            </a:r>
          </a:p>
          <a:p>
            <a:pPr algn="l">
              <a:spcAft>
                <a:spcPts val="300"/>
              </a:spcAft>
            </a:pPr>
            <a:r>
              <a:rPr sz="1200" b="0">
                <a:solidFill>
                  <a:srgbClr val="161B26"/>
                </a:solidFill>
                <a:latin typeface="Arial"/>
              </a:rPr>
              <a:t>Permitted materials: the course slides, the Learner Guide and approved materials only. A minimum of 75% attendance is required to be eligible. An appeal process is available if required.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53288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886968" y="3474720"/>
            <a:ext cx="1658721" cy="457200"/>
          </a:xfrm>
          <a:prstGeom prst="rect">
            <a:avLst/>
          </a:prstGeom>
          <a:noFill/>
        </p:spPr>
        <p:txBody>
          <a:bodyPr wrap="square" anchor="t">
            <a:spAutoFit/>
          </a:bodyPr>
          <a:lstStyle/>
          <a:p>
            <a:pPr algn="ctr">
              <a:spcAft>
                <a:spcPts val="400"/>
              </a:spcAft>
            </a:pPr>
            <a:r>
              <a:rPr sz="1700" b="1">
                <a:solidFill>
                  <a:srgbClr val="1F6FEB"/>
                </a:solidFill>
                <a:latin typeface="Arial"/>
              </a:rPr>
              <a:t>TRAQOM</a:t>
            </a:r>
          </a:p>
        </p:txBody>
      </p:sp>
      <p:sp>
        <p:nvSpPr>
          <p:cNvPr id="12" name="TextBox 11"/>
          <p:cNvSpPr txBox="1"/>
          <p:nvPr/>
        </p:nvSpPr>
        <p:spPr>
          <a:xfrm>
            <a:off x="905256"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Scan the QR code on the LMS</a:t>
            </a:r>
          </a:p>
        </p:txBody>
      </p:sp>
      <p:sp>
        <p:nvSpPr>
          <p:cNvPr id="13" name="TextBox 12"/>
          <p:cNvSpPr txBox="1"/>
          <p:nvPr/>
        </p:nvSpPr>
        <p:spPr>
          <a:xfrm>
            <a:off x="2618841" y="347472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4" name="Rectangle 13"/>
          <p:cNvSpPr/>
          <p:nvPr/>
        </p:nvSpPr>
        <p:spPr>
          <a:xfrm>
            <a:off x="2966313"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6313" y="214884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0497" y="253288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0497"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8" name="TextBox 17"/>
          <p:cNvSpPr txBox="1"/>
          <p:nvPr/>
        </p:nvSpPr>
        <p:spPr>
          <a:xfrm>
            <a:off x="3076041" y="3474720"/>
            <a:ext cx="1658721" cy="457200"/>
          </a:xfrm>
          <a:prstGeom prst="rect">
            <a:avLst/>
          </a:prstGeom>
          <a:noFill/>
        </p:spPr>
        <p:txBody>
          <a:bodyPr wrap="square" anchor="t">
            <a:spAutoFit/>
          </a:bodyPr>
          <a:lstStyle/>
          <a:p>
            <a:pPr algn="ctr">
              <a:spcAft>
                <a:spcPts val="400"/>
              </a:spcAft>
            </a:pPr>
            <a:r>
              <a:rPr sz="1700" b="1">
                <a:solidFill>
                  <a:srgbClr val="10B981"/>
                </a:solidFill>
                <a:latin typeface="Arial"/>
              </a:rPr>
              <a:t>Attendance</a:t>
            </a:r>
          </a:p>
        </p:txBody>
      </p:sp>
      <p:sp>
        <p:nvSpPr>
          <p:cNvPr id="19" name="TextBox 18"/>
          <p:cNvSpPr txBox="1"/>
          <p:nvPr/>
        </p:nvSpPr>
        <p:spPr>
          <a:xfrm>
            <a:off x="3094329"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Scan the SSG QR code</a:t>
            </a:r>
          </a:p>
        </p:txBody>
      </p:sp>
      <p:sp>
        <p:nvSpPr>
          <p:cNvPr id="20" name="TextBox 19"/>
          <p:cNvSpPr txBox="1"/>
          <p:nvPr/>
        </p:nvSpPr>
        <p:spPr>
          <a:xfrm>
            <a:off x="4807914" y="347472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5155386"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55386" y="214884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0" y="253288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0"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5" name="TextBox 24"/>
          <p:cNvSpPr txBox="1"/>
          <p:nvPr/>
        </p:nvSpPr>
        <p:spPr>
          <a:xfrm>
            <a:off x="5265114" y="3474720"/>
            <a:ext cx="1658721" cy="457200"/>
          </a:xfrm>
          <a:prstGeom prst="rect">
            <a:avLst/>
          </a:prstGeom>
          <a:noFill/>
        </p:spPr>
        <p:txBody>
          <a:bodyPr wrap="square" anchor="t">
            <a:spAutoFit/>
          </a:bodyPr>
          <a:lstStyle/>
          <a:p>
            <a:pPr algn="ctr">
              <a:spcAft>
                <a:spcPts val="400"/>
              </a:spcAft>
            </a:pPr>
            <a:r>
              <a:rPr sz="1700" b="1">
                <a:solidFill>
                  <a:srgbClr val="7C3AED"/>
                </a:solidFill>
                <a:latin typeface="Arial"/>
              </a:rPr>
              <a:t>Assessment</a:t>
            </a:r>
          </a:p>
        </p:txBody>
      </p:sp>
      <p:sp>
        <p:nvSpPr>
          <p:cNvPr id="26" name="TextBox 25"/>
          <p:cNvSpPr txBox="1"/>
          <p:nvPr/>
        </p:nvSpPr>
        <p:spPr>
          <a:xfrm>
            <a:off x="5283402"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Sit the PP, then answer the OQ verbally</a:t>
            </a:r>
          </a:p>
        </p:txBody>
      </p:sp>
      <p:sp>
        <p:nvSpPr>
          <p:cNvPr id="27" name="TextBox 26"/>
          <p:cNvSpPr txBox="1"/>
          <p:nvPr/>
        </p:nvSpPr>
        <p:spPr>
          <a:xfrm>
            <a:off x="6996987" y="347472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8" name="Rectangle 27"/>
          <p:cNvSpPr/>
          <p:nvPr/>
        </p:nvSpPr>
        <p:spPr>
          <a:xfrm>
            <a:off x="7344459"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4459" y="214884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08643" y="253288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8643"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32" name="TextBox 31"/>
          <p:cNvSpPr txBox="1"/>
          <p:nvPr/>
        </p:nvSpPr>
        <p:spPr>
          <a:xfrm>
            <a:off x="7454187" y="3474720"/>
            <a:ext cx="1658721" cy="457200"/>
          </a:xfrm>
          <a:prstGeom prst="rect">
            <a:avLst/>
          </a:prstGeom>
          <a:noFill/>
        </p:spPr>
        <p:txBody>
          <a:bodyPr wrap="square" anchor="t">
            <a:spAutoFit/>
          </a:bodyPr>
          <a:lstStyle/>
          <a:p>
            <a:pPr algn="ctr">
              <a:spcAft>
                <a:spcPts val="400"/>
              </a:spcAft>
            </a:pPr>
            <a:r>
              <a:rPr sz="1700" b="1">
                <a:solidFill>
                  <a:srgbClr val="F59E0B"/>
                </a:solidFill>
                <a:latin typeface="Arial"/>
              </a:rPr>
              <a:t>Submit</a:t>
            </a:r>
          </a:p>
        </p:txBody>
      </p:sp>
      <p:sp>
        <p:nvSpPr>
          <p:cNvPr id="33" name="TextBox 32"/>
          <p:cNvSpPr txBox="1"/>
          <p:nvPr/>
        </p:nvSpPr>
        <p:spPr>
          <a:xfrm>
            <a:off x="7472475"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Submit your PP answers on the LMS</a:t>
            </a:r>
          </a:p>
        </p:txBody>
      </p:sp>
      <p:sp>
        <p:nvSpPr>
          <p:cNvPr id="34" name="TextBox 33"/>
          <p:cNvSpPr txBox="1"/>
          <p:nvPr/>
        </p:nvSpPr>
        <p:spPr>
          <a:xfrm>
            <a:off x="9186060" y="347472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5" name="Rectangle 34"/>
          <p:cNvSpPr/>
          <p:nvPr/>
        </p:nvSpPr>
        <p:spPr>
          <a:xfrm>
            <a:off x="9533532" y="2148840"/>
            <a:ext cx="1878177" cy="3200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3532" y="214884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97716" y="253288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7716" y="253288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9" name="TextBox 38"/>
          <p:cNvSpPr txBox="1"/>
          <p:nvPr/>
        </p:nvSpPr>
        <p:spPr>
          <a:xfrm>
            <a:off x="9643260" y="3474720"/>
            <a:ext cx="1658721" cy="457200"/>
          </a:xfrm>
          <a:prstGeom prst="rect">
            <a:avLst/>
          </a:prstGeom>
          <a:noFill/>
        </p:spPr>
        <p:txBody>
          <a:bodyPr wrap="square" anchor="t">
            <a:spAutoFit/>
          </a:bodyPr>
          <a:lstStyle/>
          <a:p>
            <a:pPr algn="ctr">
              <a:spcAft>
                <a:spcPts val="400"/>
              </a:spcAft>
            </a:pPr>
            <a:r>
              <a:rPr sz="1700" b="1">
                <a:solidFill>
                  <a:srgbClr val="1F6FEB"/>
                </a:solidFill>
                <a:latin typeface="Arial"/>
              </a:rPr>
              <a:t>Sign off</a:t>
            </a:r>
          </a:p>
        </p:txBody>
      </p:sp>
      <p:sp>
        <p:nvSpPr>
          <p:cNvPr id="40" name="TextBox 39"/>
          <p:cNvSpPr txBox="1"/>
          <p:nvPr/>
        </p:nvSpPr>
        <p:spPr>
          <a:xfrm>
            <a:off x="9661548" y="3977640"/>
            <a:ext cx="1622145" cy="11887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20240"/>
            <a:ext cx="334975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20240"/>
            <a:ext cx="33497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63496" y="2286000"/>
            <a:ext cx="777240" cy="7772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63496" y="228600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60120" y="3246120"/>
            <a:ext cx="2983992" cy="411480"/>
          </a:xfrm>
          <a:prstGeom prst="rect">
            <a:avLst/>
          </a:prstGeom>
          <a:noFill/>
        </p:spPr>
        <p:txBody>
          <a:bodyPr wrap="square" anchor="t">
            <a:spAutoFit/>
          </a:bodyPr>
          <a:lstStyle/>
          <a:p>
            <a:pPr algn="ctr">
              <a:spcAft>
                <a:spcPts val="400"/>
              </a:spcAft>
            </a:pPr>
            <a:r>
              <a:rPr sz="1600" b="1">
                <a:solidFill>
                  <a:srgbClr val="1F6FEB"/>
                </a:solidFill>
                <a:latin typeface="Arial"/>
              </a:rPr>
              <a:t>Trainer shows the QR</a:t>
            </a:r>
          </a:p>
        </p:txBody>
      </p:sp>
      <p:sp>
        <p:nvSpPr>
          <p:cNvPr id="12" name="TextBox 11"/>
          <p:cNvSpPr txBox="1"/>
          <p:nvPr/>
        </p:nvSpPr>
        <p:spPr>
          <a:xfrm>
            <a:off x="960120" y="3703320"/>
            <a:ext cx="2983992" cy="731520"/>
          </a:xfrm>
          <a:prstGeom prst="rect">
            <a:avLst/>
          </a:prstGeom>
          <a:noFill/>
        </p:spPr>
        <p:txBody>
          <a:bodyPr wrap="square" anchor="t">
            <a:spAutoFit/>
          </a:bodyPr>
          <a:lstStyle/>
          <a:p>
            <a:pPr algn="ctr">
              <a:spcAft>
                <a:spcPts val="400"/>
              </a:spcAft>
            </a:pPr>
            <a:r>
              <a:rPr sz="1250" b="0">
                <a:solidFill>
                  <a:srgbClr val="5B6372"/>
                </a:solidFill>
                <a:latin typeface="Arial"/>
              </a:rPr>
              <a:t>The trainer or administrator displays the digital attendance QR code generated from the SSG portal.</a:t>
            </a:r>
          </a:p>
        </p:txBody>
      </p:sp>
      <p:sp>
        <p:nvSpPr>
          <p:cNvPr id="13" name="TextBox 12"/>
          <p:cNvSpPr txBox="1"/>
          <p:nvPr/>
        </p:nvSpPr>
        <p:spPr>
          <a:xfrm>
            <a:off x="4090416" y="2948940"/>
            <a:ext cx="365760"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4" name="Rectangle 13"/>
          <p:cNvSpPr/>
          <p:nvPr/>
        </p:nvSpPr>
        <p:spPr>
          <a:xfrm>
            <a:off x="4419600" y="1920240"/>
            <a:ext cx="334975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9600" y="1920240"/>
            <a:ext cx="33497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05856" y="2286000"/>
            <a:ext cx="777240" cy="7772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05856" y="228600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8" name="TextBox 17"/>
          <p:cNvSpPr txBox="1"/>
          <p:nvPr/>
        </p:nvSpPr>
        <p:spPr>
          <a:xfrm>
            <a:off x="4602480" y="3246120"/>
            <a:ext cx="2983992" cy="411480"/>
          </a:xfrm>
          <a:prstGeom prst="rect">
            <a:avLst/>
          </a:prstGeom>
          <a:noFill/>
        </p:spPr>
        <p:txBody>
          <a:bodyPr wrap="square" anchor="t">
            <a:spAutoFit/>
          </a:bodyPr>
          <a:lstStyle/>
          <a:p>
            <a:pPr algn="ctr">
              <a:spcAft>
                <a:spcPts val="400"/>
              </a:spcAft>
            </a:pPr>
            <a:r>
              <a:rPr sz="1600" b="1">
                <a:solidFill>
                  <a:srgbClr val="10B981"/>
                </a:solidFill>
                <a:latin typeface="Arial"/>
              </a:rPr>
              <a:t>Scan with your phone</a:t>
            </a:r>
          </a:p>
        </p:txBody>
      </p:sp>
      <p:sp>
        <p:nvSpPr>
          <p:cNvPr id="19" name="TextBox 18"/>
          <p:cNvSpPr txBox="1"/>
          <p:nvPr/>
        </p:nvSpPr>
        <p:spPr>
          <a:xfrm>
            <a:off x="4602480" y="3703320"/>
            <a:ext cx="2983992" cy="731520"/>
          </a:xfrm>
          <a:prstGeom prst="rect">
            <a:avLst/>
          </a:prstGeom>
          <a:noFill/>
        </p:spPr>
        <p:txBody>
          <a:bodyPr wrap="square" anchor="t">
            <a:spAutoFit/>
          </a:bodyPr>
          <a:lstStyle/>
          <a:p>
            <a:pPr algn="ctr">
              <a:spcAft>
                <a:spcPts val="400"/>
              </a:spcAft>
            </a:pPr>
            <a:r>
              <a:rPr sz="1250" b="0">
                <a:solidFill>
                  <a:srgbClr val="5B6372"/>
                </a:solidFill>
                <a:latin typeface="Arial"/>
              </a:rPr>
              <a:t>Open your mobile phone camera and scan the QR code shown on screen.</a:t>
            </a:r>
          </a:p>
        </p:txBody>
      </p:sp>
      <p:sp>
        <p:nvSpPr>
          <p:cNvPr id="20" name="TextBox 19"/>
          <p:cNvSpPr txBox="1"/>
          <p:nvPr/>
        </p:nvSpPr>
        <p:spPr>
          <a:xfrm>
            <a:off x="7732776" y="2948940"/>
            <a:ext cx="365760"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1" name="Rectangle 20"/>
          <p:cNvSpPr/>
          <p:nvPr/>
        </p:nvSpPr>
        <p:spPr>
          <a:xfrm>
            <a:off x="8061960" y="1920240"/>
            <a:ext cx="334975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61960" y="1920240"/>
            <a:ext cx="334975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48216" y="2286000"/>
            <a:ext cx="777240" cy="7772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8216" y="2286000"/>
            <a:ext cx="777240" cy="777240"/>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5" name="TextBox 24"/>
          <p:cNvSpPr txBox="1"/>
          <p:nvPr/>
        </p:nvSpPr>
        <p:spPr>
          <a:xfrm>
            <a:off x="8244840" y="3246120"/>
            <a:ext cx="2983992" cy="411480"/>
          </a:xfrm>
          <a:prstGeom prst="rect">
            <a:avLst/>
          </a:prstGeom>
          <a:noFill/>
        </p:spPr>
        <p:txBody>
          <a:bodyPr wrap="square" anchor="t">
            <a:spAutoFit/>
          </a:bodyPr>
          <a:lstStyle/>
          <a:p>
            <a:pPr algn="ctr">
              <a:spcAft>
                <a:spcPts val="400"/>
              </a:spcAft>
            </a:pPr>
            <a:r>
              <a:rPr sz="1600" b="1">
                <a:solidFill>
                  <a:srgbClr val="7C3AED"/>
                </a:solidFill>
                <a:latin typeface="Arial"/>
              </a:rPr>
              <a:t>Submit — three times</a:t>
            </a:r>
          </a:p>
        </p:txBody>
      </p:sp>
      <p:sp>
        <p:nvSpPr>
          <p:cNvPr id="26" name="TextBox 25"/>
          <p:cNvSpPr txBox="1"/>
          <p:nvPr/>
        </p:nvSpPr>
        <p:spPr>
          <a:xfrm>
            <a:off x="8244840" y="3703320"/>
            <a:ext cx="2983992" cy="731520"/>
          </a:xfrm>
          <a:prstGeom prst="rect">
            <a:avLst/>
          </a:prstGeom>
          <a:noFill/>
        </p:spPr>
        <p:txBody>
          <a:bodyPr wrap="square" anchor="t">
            <a:spAutoFit/>
          </a:bodyPr>
          <a:lstStyle/>
          <a:p>
            <a:pPr algn="ctr">
              <a:spcAft>
                <a:spcPts val="400"/>
              </a:spcAft>
            </a:pPr>
            <a:r>
              <a:rPr sz="1250" b="0">
                <a:solidFill>
                  <a:srgbClr val="5B6372"/>
                </a:solidFill>
                <a:latin typeface="Arial"/>
              </a:rPr>
              <a:t>Attendance is taken at AM, PM and again before the Assessment.</a:t>
            </a:r>
          </a:p>
        </p:txBody>
      </p:sp>
      <p:sp>
        <p:nvSpPr>
          <p:cNvPr id="27" name="Rectangle 26"/>
          <p:cNvSpPr/>
          <p:nvPr/>
        </p:nvSpPr>
        <p:spPr>
          <a:xfrm>
            <a:off x="777240" y="4892040"/>
            <a:ext cx="10634472" cy="10515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92040"/>
            <a:ext cx="91440"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4892040"/>
            <a:ext cx="9994392" cy="1051560"/>
          </a:xfrm>
          <a:prstGeom prst="rect">
            <a:avLst/>
          </a:prstGeom>
          <a:noFill/>
        </p:spPr>
        <p:txBody>
          <a:bodyPr wrap="square" anchor="ctr">
            <a:spAutoFit/>
          </a:bodyPr>
          <a:lstStyle/>
          <a:p>
            <a:pPr algn="l">
              <a:spcAft>
                <a:spcPts val="300"/>
              </a:spcAft>
            </a:pPr>
            <a:r>
              <a:rPr sz="1600" b="1">
                <a:solidFill>
                  <a:srgbClr val="127A3E"/>
                </a:solidFill>
                <a:latin typeface="Arial"/>
              </a:rPr>
              <a:t>⚠  75% minimum attendance</a:t>
            </a:r>
          </a:p>
          <a:p>
            <a:pPr algn="l">
              <a:spcAft>
                <a:spcPts val="300"/>
              </a:spcAft>
            </a:pPr>
            <a:r>
              <a:rPr sz="1250" b="0">
                <a:solidFill>
                  <a:srgbClr val="161B26"/>
                </a:solidFill>
                <a:latin typeface="Arial"/>
              </a:rPr>
              <a:t>Mandatory for all WSQ-funded courses. You must meet the 75% attendance rate based on the SSG Digital Attendance record to be eligible for assessment and funding.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CONTINUE YOUR LEARNING</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WSQ – Agile Project Management with Scrum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WSQ – Digital Transformation Strategy for Business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WSQ – Business Innovation with Emerging Technology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WSQ – Data Visualisation for Business Decision Making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WSQ – Customer Experience and Service Design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WSQ – Business Continuity Management Essentials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22960"/>
            <a:ext cx="10881360" cy="713232"/>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  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  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  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  After the course</a:t>
            </a:r>
          </a:p>
          <a:p>
            <a:pPr algn="l">
              <a:spcAft>
                <a:spcPts val="300"/>
              </a:spcAft>
            </a:pPr>
            <a:r>
              <a:rPr sz="1300" b="0">
                <a:solidFill>
                  <a:srgbClr val="5B6372"/>
                </a:solidFill>
                <a:latin typeface="Arial"/>
              </a:rPr>
              <a:t>Free post-course consultation on the subject matter is available to every learner.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KEEP DESIGNING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apply design thinking to uncover real user needs, generate ideas, prototype them and prove they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Design Thinking Course for Businesses  ·  TGS-2026064719</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